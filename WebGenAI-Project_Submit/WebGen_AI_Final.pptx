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17"/>
  </p:notesMasterIdLst>
  <p:sldIdLst>
    <p:sldId id="272" r:id="rId2"/>
    <p:sldId id="257" r:id="rId3"/>
    <p:sldId id="274" r:id="rId4"/>
    <p:sldId id="273" r:id="rId5"/>
    <p:sldId id="275" r:id="rId6"/>
    <p:sldId id="276" r:id="rId7"/>
    <p:sldId id="277" r:id="rId8"/>
    <p:sldId id="278" r:id="rId9"/>
    <p:sldId id="283" r:id="rId10"/>
    <p:sldId id="284" r:id="rId11"/>
    <p:sldId id="285" r:id="rId12"/>
    <p:sldId id="286" r:id="rId13"/>
    <p:sldId id="280" r:id="rId14"/>
    <p:sldId id="282" r:id="rId15"/>
    <p:sldId id="281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42337F-A71C-4DFC-8CF9-9FAF5DD8CEC3}">
          <p14:sldIdLst>
            <p14:sldId id="272"/>
            <p14:sldId id="257"/>
          </p14:sldIdLst>
        </p14:section>
        <p14:section name="Untitled Section" id="{10F8AA64-221C-46BC-ACA1-914DB6E39C5E}">
          <p14:sldIdLst>
            <p14:sldId id="274"/>
            <p14:sldId id="273"/>
            <p14:sldId id="275"/>
            <p14:sldId id="276"/>
            <p14:sldId id="277"/>
            <p14:sldId id="278"/>
            <p14:sldId id="283"/>
            <p14:sldId id="284"/>
            <p14:sldId id="285"/>
            <p14:sldId id="286"/>
            <p14:sldId id="280"/>
            <p14:sldId id="282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06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1894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81151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9269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359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6924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0832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865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42A54C80-263E-416B-A8E0-580EDEADCBDC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852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1359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7983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188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9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65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35DA-5BC1-8690-AD74-6297630A7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179487"/>
            <a:ext cx="7543800" cy="1622298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INFORMATICS AND COMPUTATIONAL SCIENCE PROGRAMME,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COLLEGE OF SCIENCE,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MOHANLAL SUKHADIYA UNIVERSITY, UDAIPUR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OF COMPUTER APPLICATION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B8FC5-AF78-010B-7624-C88AD7454B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038" y="2994272"/>
            <a:ext cx="7664054" cy="1622298"/>
          </a:xfrm>
        </p:spPr>
        <p:txBody>
          <a:bodyPr>
            <a:normAutofit/>
          </a:bodyPr>
          <a:lstStyle/>
          <a:p>
            <a:r>
              <a:rPr lang="en-US" sz="1600" b="1" kern="0" spc="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WebGen.ai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Website Builder</a:t>
            </a:r>
          </a:p>
          <a:p>
            <a:r>
              <a:rPr lang="en-US" sz="1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    						Submitted by:</a:t>
            </a:r>
          </a:p>
          <a:p>
            <a:r>
              <a:rPr lang="en-US" sz="1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Dr.Avinsh Panwar					Varun Bhoi &amp; Sourabh Jain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DB0AC-C95D-0093-323A-5BAE6101A8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6" t="4990" r="17529" b="5171"/>
          <a:stretch/>
        </p:blipFill>
        <p:spPr bwMode="auto">
          <a:xfrm>
            <a:off x="3731222" y="1636714"/>
            <a:ext cx="1681555" cy="12140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9486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928"/>
                </a:solidFill>
              </a:rPr>
              <a:t>The AI Revolution in Web Building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82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75488" y="1252728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74151"/>
                </a:solidFill>
              </a:rPr>
              <a:t>WebGen.ai is an AI-powered platform that generates complete frontend websites from a simple text prompt. Users describe their idea and receive production-ready HTML, CSS &amp; JavaScript within minutes — no coding required. Powered by DeepSeek AI via OpenRouter.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2331720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64008" cy="1417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Symbol"/>
              </a:rPr>
              <a:t>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928"/>
                </a:solidFill>
              </a:rPr>
              <a:t>Prompt to Website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Type a description → AI generates complete HTML, CSS &amp; JS instantly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64408" y="2331720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64408" y="2331720"/>
            <a:ext cx="64008" cy="141732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47288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Symbol"/>
              </a:rPr>
              <a:t>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47288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928"/>
                </a:solidFill>
              </a:rPr>
              <a:t>Monaco Code Editor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47288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Professional in-browser VS Code-level editor to fine-tune generated code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17336" y="2331720"/>
            <a:ext cx="2697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17336" y="2331720"/>
            <a:ext cx="64008" cy="141732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0216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Symbol"/>
              </a:rPr>
              <a:t>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0216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928"/>
                </a:solidFill>
              </a:rPr>
              <a:t>One-Click Deploy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0216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Deploy your website live with a unique public URL — shareable instantly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Built with  React 18 · Node.js · Express · MongoDB · OpenRouter LLM · Firebase Auth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AC9C64-7FD1-F0C1-851D-1630990A7611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43E89D-D80F-C7E1-20CF-5DD005E34F06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OBJECTIVES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22BF95-89A9-EECC-5E71-F2F3758E415A}"/>
              </a:ext>
            </a:extLst>
          </p:cNvPr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928"/>
                </a:solidFill>
              </a:rPr>
              <a:t>Core Goals Driving Our Solution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1DA3609-F3E3-C58E-9F31-CBF8221DAE81}"/>
              </a:ext>
            </a:extLst>
          </p:cNvPr>
          <p:cNvSpPr/>
          <p:nvPr/>
        </p:nvSpPr>
        <p:spPr>
          <a:xfrm>
            <a:off x="411480" y="137160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7F1D0C-DCF9-3B21-A0B3-14E741141A81}"/>
              </a:ext>
            </a:extLst>
          </p:cNvPr>
          <p:cNvSpPr/>
          <p:nvPr/>
        </p:nvSpPr>
        <p:spPr>
          <a:xfrm>
            <a:off x="411480" y="1371600"/>
            <a:ext cx="210312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82F9AEE-0ABD-E134-BBE6-AAC1EC141928}"/>
              </a:ext>
            </a:extLst>
          </p:cNvPr>
          <p:cNvSpPr/>
          <p:nvPr/>
        </p:nvSpPr>
        <p:spPr>
          <a:xfrm>
            <a:off x="521208" y="14813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545C3C-568E-7E19-5CF6-E6DA1F56CB0A}"/>
              </a:ext>
            </a:extLst>
          </p:cNvPr>
          <p:cNvSpPr/>
          <p:nvPr/>
        </p:nvSpPr>
        <p:spPr>
          <a:xfrm>
            <a:off x="521208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AI Website Generation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A55CB9-88FB-7677-276C-83581A277FAB}"/>
              </a:ext>
            </a:extLst>
          </p:cNvPr>
          <p:cNvSpPr/>
          <p:nvPr/>
        </p:nvSpPr>
        <p:spPr>
          <a:xfrm>
            <a:off x="521208" y="21579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Text prompt → complete responsive website via OpenRouter LLM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ED00C5-9AA2-D9CB-1848-36CB14CA36D7}"/>
              </a:ext>
            </a:extLst>
          </p:cNvPr>
          <p:cNvSpPr/>
          <p:nvPr/>
        </p:nvSpPr>
        <p:spPr>
          <a:xfrm>
            <a:off x="2606040" y="137160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04A8372-60C4-E193-5BF5-9AA42C324DCE}"/>
              </a:ext>
            </a:extLst>
          </p:cNvPr>
          <p:cNvSpPr/>
          <p:nvPr/>
        </p:nvSpPr>
        <p:spPr>
          <a:xfrm>
            <a:off x="2606040" y="1371600"/>
            <a:ext cx="2103120" cy="6400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C58473-58C3-F142-778D-28055C331AC6}"/>
              </a:ext>
            </a:extLst>
          </p:cNvPr>
          <p:cNvSpPr/>
          <p:nvPr/>
        </p:nvSpPr>
        <p:spPr>
          <a:xfrm>
            <a:off x="2715768" y="14813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6E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6A0376-A6F5-C3D3-8837-A59E1E17F26D}"/>
              </a:ext>
            </a:extLst>
          </p:cNvPr>
          <p:cNvSpPr/>
          <p:nvPr/>
        </p:nvSpPr>
        <p:spPr>
          <a:xfrm>
            <a:off x="2715768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Monaco Code Editor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51DAA7A-51C0-EA7C-0073-84BC9B52BF0D}"/>
              </a:ext>
            </a:extLst>
          </p:cNvPr>
          <p:cNvSpPr/>
          <p:nvPr/>
        </p:nvSpPr>
        <p:spPr>
          <a:xfrm>
            <a:off x="2715768" y="21579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VS Code-quality in-browser editing for fine-tuning</a:t>
            </a:r>
            <a:endParaRPr lang="en-US" sz="8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4D98F52-9AE1-F59C-4303-AE83E8428A7A}"/>
              </a:ext>
            </a:extLst>
          </p:cNvPr>
          <p:cNvSpPr/>
          <p:nvPr/>
        </p:nvSpPr>
        <p:spPr>
          <a:xfrm>
            <a:off x="4800600" y="137160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6B89393-5A00-7638-E979-7C01246C940D}"/>
              </a:ext>
            </a:extLst>
          </p:cNvPr>
          <p:cNvSpPr/>
          <p:nvPr/>
        </p:nvSpPr>
        <p:spPr>
          <a:xfrm>
            <a:off x="4800600" y="1371600"/>
            <a:ext cx="2103120" cy="64008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20F776-5FA9-C55A-8099-CF348A516854}"/>
              </a:ext>
            </a:extLst>
          </p:cNvPr>
          <p:cNvSpPr/>
          <p:nvPr/>
        </p:nvSpPr>
        <p:spPr>
          <a:xfrm>
            <a:off x="4910328" y="14813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A1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F923787-78A9-0100-FF5A-0302739305D3}"/>
              </a:ext>
            </a:extLst>
          </p:cNvPr>
          <p:cNvSpPr/>
          <p:nvPr/>
        </p:nvSpPr>
        <p:spPr>
          <a:xfrm>
            <a:off x="4910328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AI Chat Modification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42C0977-B3C8-DA42-8A11-9856CCE01614}"/>
              </a:ext>
            </a:extLst>
          </p:cNvPr>
          <p:cNvSpPr/>
          <p:nvPr/>
        </p:nvSpPr>
        <p:spPr>
          <a:xfrm>
            <a:off x="4910328" y="21579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Chat-based interface to update &amp; refine websites iteratively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D72B525-F822-9AE6-FAAC-06A303571A08}"/>
              </a:ext>
            </a:extLst>
          </p:cNvPr>
          <p:cNvSpPr/>
          <p:nvPr/>
        </p:nvSpPr>
        <p:spPr>
          <a:xfrm>
            <a:off x="6995160" y="137160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C45D593-F3CA-78E2-3E64-1D39D4491A34}"/>
              </a:ext>
            </a:extLst>
          </p:cNvPr>
          <p:cNvSpPr/>
          <p:nvPr/>
        </p:nvSpPr>
        <p:spPr>
          <a:xfrm>
            <a:off x="6995160" y="1371600"/>
            <a:ext cx="21031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B9B2473-8A41-345C-9C4D-F2AD46726F66}"/>
              </a:ext>
            </a:extLst>
          </p:cNvPr>
          <p:cNvSpPr/>
          <p:nvPr/>
        </p:nvSpPr>
        <p:spPr>
          <a:xfrm>
            <a:off x="7104888" y="14813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B8A607F-4A62-A7A7-BCA7-FAD78BCECBBA}"/>
              </a:ext>
            </a:extLst>
          </p:cNvPr>
          <p:cNvSpPr/>
          <p:nvPr/>
        </p:nvSpPr>
        <p:spPr>
          <a:xfrm>
            <a:off x="7104888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One-Click Deployment</a:t>
            </a:r>
            <a:endParaRPr lang="en-US" sz="10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C30AE3-B4C1-3BF8-1846-45DD306A09FC}"/>
              </a:ext>
            </a:extLst>
          </p:cNvPr>
          <p:cNvSpPr/>
          <p:nvPr/>
        </p:nvSpPr>
        <p:spPr>
          <a:xfrm>
            <a:off x="7104888" y="21579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Publish live with unique slug-based public URLs instantly</a:t>
            </a:r>
            <a:endParaRPr lang="en-US" sz="8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F87DEDE-FFB0-23C0-B885-7CDE3B126395}"/>
              </a:ext>
            </a:extLst>
          </p:cNvPr>
          <p:cNvSpPr/>
          <p:nvPr/>
        </p:nvSpPr>
        <p:spPr>
          <a:xfrm>
            <a:off x="411480" y="278892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6B49658-30F5-9D9A-C877-7CB1C3C379C9}"/>
              </a:ext>
            </a:extLst>
          </p:cNvPr>
          <p:cNvSpPr/>
          <p:nvPr/>
        </p:nvSpPr>
        <p:spPr>
          <a:xfrm>
            <a:off x="411480" y="2788920"/>
            <a:ext cx="21031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99F3213-4919-64E2-509C-CCA7278C9991}"/>
              </a:ext>
            </a:extLst>
          </p:cNvPr>
          <p:cNvSpPr/>
          <p:nvPr/>
        </p:nvSpPr>
        <p:spPr>
          <a:xfrm>
            <a:off x="521208" y="2898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6326329-8648-FAA9-28EE-B8457EABB02F}"/>
              </a:ext>
            </a:extLst>
          </p:cNvPr>
          <p:cNvSpPr/>
          <p:nvPr/>
        </p:nvSpPr>
        <p:spPr>
          <a:xfrm>
            <a:off x="521208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Firebase Authentication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F5CE1C8-FAC0-019C-1294-10BC103B0A59}"/>
              </a:ext>
            </a:extLst>
          </p:cNvPr>
          <p:cNvSpPr/>
          <p:nvPr/>
        </p:nvSpPr>
        <p:spPr>
          <a:xfrm>
            <a:off x="521208" y="35753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Secure login via Google OAuth 2.0 + email/password with JWT</a:t>
            </a:r>
            <a:endParaRPr lang="en-US" sz="8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A239828-F7AF-8285-0F25-31037C26595D}"/>
              </a:ext>
            </a:extLst>
          </p:cNvPr>
          <p:cNvSpPr/>
          <p:nvPr/>
        </p:nvSpPr>
        <p:spPr>
          <a:xfrm>
            <a:off x="2606040" y="278892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DAECA74-5E95-3894-E899-7F02CBD7DA16}"/>
              </a:ext>
            </a:extLst>
          </p:cNvPr>
          <p:cNvSpPr/>
          <p:nvPr/>
        </p:nvSpPr>
        <p:spPr>
          <a:xfrm>
            <a:off x="2606040" y="2788920"/>
            <a:ext cx="21031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94F9939-0A67-DBE6-C425-0553B34BFF68}"/>
              </a:ext>
            </a:extLst>
          </p:cNvPr>
          <p:cNvSpPr/>
          <p:nvPr/>
        </p:nvSpPr>
        <p:spPr>
          <a:xfrm>
            <a:off x="2715768" y="2898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E091E69-B2F1-4366-09AB-A35A33C4DF4A}"/>
              </a:ext>
            </a:extLst>
          </p:cNvPr>
          <p:cNvSpPr/>
          <p:nvPr/>
        </p:nvSpPr>
        <p:spPr>
          <a:xfrm>
            <a:off x="2715768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Credit-Based System</a:t>
            </a: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7128DA0-7B75-A560-CEFE-BF70FCC30E23}"/>
              </a:ext>
            </a:extLst>
          </p:cNvPr>
          <p:cNvSpPr/>
          <p:nvPr/>
        </p:nvSpPr>
        <p:spPr>
          <a:xfrm>
            <a:off x="2715768" y="35753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Fair usage with user credits — each generation deducts balance</a:t>
            </a:r>
            <a:endParaRPr lang="en-US" sz="8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CD9A065-96F0-D13C-4C92-42BB92F49436}"/>
              </a:ext>
            </a:extLst>
          </p:cNvPr>
          <p:cNvSpPr/>
          <p:nvPr/>
        </p:nvSpPr>
        <p:spPr>
          <a:xfrm>
            <a:off x="4800600" y="278892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3FEA40D-E67C-6218-59F8-587880B11862}"/>
              </a:ext>
            </a:extLst>
          </p:cNvPr>
          <p:cNvSpPr/>
          <p:nvPr/>
        </p:nvSpPr>
        <p:spPr>
          <a:xfrm>
            <a:off x="4800600" y="2788920"/>
            <a:ext cx="2103120" cy="6400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A8AE701-0C82-95C6-B71A-CC42351B60A8}"/>
              </a:ext>
            </a:extLst>
          </p:cNvPr>
          <p:cNvSpPr/>
          <p:nvPr/>
        </p:nvSpPr>
        <p:spPr>
          <a:xfrm>
            <a:off x="4910328" y="2898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9F6E"/>
                </a:solidFill>
              </a:rPr>
              <a:t>07</a:t>
            </a:r>
            <a:endParaRPr lang="en-US" sz="1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2484FD8-EB42-5A2A-B659-648441912458}"/>
              </a:ext>
            </a:extLst>
          </p:cNvPr>
          <p:cNvSpPr/>
          <p:nvPr/>
        </p:nvSpPr>
        <p:spPr>
          <a:xfrm>
            <a:off x="4910328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Project Dashboard</a:t>
            </a:r>
            <a:endParaRPr lang="en-US" sz="10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0D02C8D-D756-6D2B-8000-392071079790}"/>
              </a:ext>
            </a:extLst>
          </p:cNvPr>
          <p:cNvSpPr/>
          <p:nvPr/>
        </p:nvSpPr>
        <p:spPr>
          <a:xfrm>
            <a:off x="4910328" y="35753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Manage all saved projects — star, delete, deploy &amp; share</a:t>
            </a:r>
            <a:endParaRPr lang="en-US" sz="8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E1A0E0E-64D2-327A-872B-89B964131BC4}"/>
              </a:ext>
            </a:extLst>
          </p:cNvPr>
          <p:cNvSpPr/>
          <p:nvPr/>
        </p:nvSpPr>
        <p:spPr>
          <a:xfrm>
            <a:off x="6995160" y="2788920"/>
            <a:ext cx="210312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E3E915F-A44A-223E-D693-AEAF12788847}"/>
              </a:ext>
            </a:extLst>
          </p:cNvPr>
          <p:cNvSpPr/>
          <p:nvPr/>
        </p:nvSpPr>
        <p:spPr>
          <a:xfrm>
            <a:off x="6995160" y="2788920"/>
            <a:ext cx="210312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C184B43-2B7B-7840-4251-2374362C4CA8}"/>
              </a:ext>
            </a:extLst>
          </p:cNvPr>
          <p:cNvSpPr/>
          <p:nvPr/>
        </p:nvSpPr>
        <p:spPr>
          <a:xfrm>
            <a:off x="7104888" y="28986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08</a:t>
            </a:r>
            <a:endParaRPr lang="en-US" sz="18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DF9B0C5-12A1-9C14-E933-862517925196}"/>
              </a:ext>
            </a:extLst>
          </p:cNvPr>
          <p:cNvSpPr/>
          <p:nvPr/>
        </p:nvSpPr>
        <p:spPr>
          <a:xfrm>
            <a:off x="7104888" y="3246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928"/>
                </a:solidFill>
              </a:rPr>
              <a:t>Dark / Light Theme</a:t>
            </a:r>
            <a:endParaRPr lang="en-US" sz="10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0B6BF58-0838-49D0-14AD-FF60E127B78A}"/>
              </a:ext>
            </a:extLst>
          </p:cNvPr>
          <p:cNvSpPr/>
          <p:nvPr/>
        </p:nvSpPr>
        <p:spPr>
          <a:xfrm>
            <a:off x="7104888" y="35753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Full theme context switching across all pages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288088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BA358B-EE19-53FE-CB3C-B524E1C01FC1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0344D2-3B3A-35A7-E948-EC0A4BBA5081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✦  ARCHITECTURE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2C247C-D325-C5A4-8FE6-6D29B24ABD96}"/>
              </a:ext>
            </a:extLst>
          </p:cNvPr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/>
              <a:t>Full-Stack MERN + AI Architecture</a:t>
            </a:r>
            <a:endParaRPr lang="en-US" sz="26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856271-9A63-F1DE-0E76-0A007F6069D4}"/>
              </a:ext>
            </a:extLst>
          </p:cNvPr>
          <p:cNvGrpSpPr/>
          <p:nvPr/>
        </p:nvGrpSpPr>
        <p:grpSpPr>
          <a:xfrm>
            <a:off x="411480" y="1165860"/>
            <a:ext cx="8321040" cy="3593592"/>
            <a:chOff x="411480" y="1325880"/>
            <a:chExt cx="8321040" cy="359359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78DA17CF-1269-94DE-6707-541E1EFC92DB}"/>
                </a:ext>
              </a:extLst>
            </p:cNvPr>
            <p:cNvSpPr/>
            <p:nvPr/>
          </p:nvSpPr>
          <p:spPr>
            <a:xfrm>
              <a:off x="411480" y="1325880"/>
              <a:ext cx="8321040" cy="57607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71D5CF9B-4453-5A54-7D4C-858032D6D5AE}"/>
                </a:ext>
              </a:extLst>
            </p:cNvPr>
            <p:cNvSpPr/>
            <p:nvPr/>
          </p:nvSpPr>
          <p:spPr>
            <a:xfrm>
              <a:off x="411480" y="1325880"/>
              <a:ext cx="64008" cy="576072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F9805F1D-313B-B09F-975D-675B8A0C6E84}"/>
                </a:ext>
              </a:extLst>
            </p:cNvPr>
            <p:cNvSpPr/>
            <p:nvPr/>
          </p:nvSpPr>
          <p:spPr>
            <a:xfrm>
              <a:off x="594360" y="139903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1A56DB"/>
                  </a:solidFill>
                </a:rPr>
                <a:t>CLIENT LAYER</a:t>
              </a:r>
              <a:endParaRPr lang="en-US" sz="9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DA2809CA-58C9-EFF4-3503-25C4515D6A6C}"/>
                </a:ext>
              </a:extLst>
            </p:cNvPr>
            <p:cNvSpPr/>
            <p:nvPr/>
          </p:nvSpPr>
          <p:spPr>
            <a:xfrm>
              <a:off x="594360" y="1600200"/>
              <a:ext cx="7955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/>
                <a:t>React 18  ·  Vite 5  ·  Tailwind CSS  ·  Redux Toolkit  ·  Framer Motion  ·  Monaco Editor</a:t>
              </a:r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C5A084A7-49BD-4425-F9B9-566E55382EBF}"/>
                </a:ext>
              </a:extLst>
            </p:cNvPr>
            <p:cNvSpPr/>
            <p:nvPr/>
          </p:nvSpPr>
          <p:spPr>
            <a:xfrm>
              <a:off x="411480" y="1993392"/>
              <a:ext cx="8321040" cy="57607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71B0F43A-665D-10AD-3937-E0BF1ED66D2F}"/>
                </a:ext>
              </a:extLst>
            </p:cNvPr>
            <p:cNvSpPr/>
            <p:nvPr/>
          </p:nvSpPr>
          <p:spPr>
            <a:xfrm>
              <a:off x="411480" y="1993392"/>
              <a:ext cx="64008" cy="576072"/>
            </a:xfrm>
            <a:prstGeom prst="rect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5F921531-2E99-D217-A579-D8075EF8A335}"/>
                </a:ext>
              </a:extLst>
            </p:cNvPr>
            <p:cNvSpPr/>
            <p:nvPr/>
          </p:nvSpPr>
          <p:spPr>
            <a:xfrm>
              <a:off x="594360" y="206654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5A1F"/>
                  </a:solidFill>
                </a:rPr>
                <a:t>AI LAYER</a:t>
              </a:r>
              <a:endParaRPr lang="en-US" sz="900" dirty="0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FEA9222A-26F8-B9F2-FB88-A6DAB2817A32}"/>
                </a:ext>
              </a:extLst>
            </p:cNvPr>
            <p:cNvSpPr/>
            <p:nvPr/>
          </p:nvSpPr>
          <p:spPr>
            <a:xfrm>
              <a:off x="594360" y="2267712"/>
              <a:ext cx="7955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/>
                <a:t>OpenRouter LLM  ·  Prompt Engineering  ·  Chat-based Modifications</a:t>
              </a:r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D7551D5-7FD3-2409-D2CE-C51DDE3FECC2}"/>
                </a:ext>
              </a:extLst>
            </p:cNvPr>
            <p:cNvSpPr/>
            <p:nvPr/>
          </p:nvSpPr>
          <p:spPr>
            <a:xfrm>
              <a:off x="411480" y="2660904"/>
              <a:ext cx="8321040" cy="57607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131F8541-9FCE-9386-656E-7EF7582C2B64}"/>
                </a:ext>
              </a:extLst>
            </p:cNvPr>
            <p:cNvSpPr/>
            <p:nvPr/>
          </p:nvSpPr>
          <p:spPr>
            <a:xfrm>
              <a:off x="411480" y="2660904"/>
              <a:ext cx="64008" cy="576072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8342CA4D-5985-9E7A-9DC2-4E183EB16303}"/>
                </a:ext>
              </a:extLst>
            </p:cNvPr>
            <p:cNvSpPr/>
            <p:nvPr/>
          </p:nvSpPr>
          <p:spPr>
            <a:xfrm>
              <a:off x="594360" y="2734056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7C3AED"/>
                  </a:solidFill>
                </a:rPr>
                <a:t>AUTH LAYER</a:t>
              </a:r>
              <a:endParaRPr lang="en-US" sz="9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F6F69A8A-23A1-AAB1-A960-2E231FE6F3B0}"/>
                </a:ext>
              </a:extLst>
            </p:cNvPr>
            <p:cNvSpPr/>
            <p:nvPr/>
          </p:nvSpPr>
          <p:spPr>
            <a:xfrm>
              <a:off x="594360" y="2935224"/>
              <a:ext cx="7955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/>
                <a:t>Firebase Authentication  ·  Google OAuth 2.0  ·  JWT Tokens  ·  Cookie Sessions</a:t>
              </a:r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07ED05FA-2DBF-5296-7C93-C60E481E0CE2}"/>
                </a:ext>
              </a:extLst>
            </p:cNvPr>
            <p:cNvSpPr/>
            <p:nvPr/>
          </p:nvSpPr>
          <p:spPr>
            <a:xfrm>
              <a:off x="411480" y="3328416"/>
              <a:ext cx="8321040" cy="57607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D58BF4BB-42B2-8779-CEFB-A773FDE480B0}"/>
                </a:ext>
              </a:extLst>
            </p:cNvPr>
            <p:cNvSpPr/>
            <p:nvPr/>
          </p:nvSpPr>
          <p:spPr>
            <a:xfrm>
              <a:off x="411480" y="3328416"/>
              <a:ext cx="64008" cy="576072"/>
            </a:xfrm>
            <a:prstGeom prst="rect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7768BB4D-9654-25EC-4BC6-6042C41D445B}"/>
                </a:ext>
              </a:extLst>
            </p:cNvPr>
            <p:cNvSpPr/>
            <p:nvPr/>
          </p:nvSpPr>
          <p:spPr>
            <a:xfrm>
              <a:off x="594360" y="3401568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0E9F6E"/>
                  </a:solidFill>
                </a:rPr>
                <a:t>BACKEND LAYER</a:t>
              </a:r>
              <a:endParaRPr lang="en-US" sz="9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A3CA2D67-BD66-6833-5713-E9ACB0271B3F}"/>
                </a:ext>
              </a:extLst>
            </p:cNvPr>
            <p:cNvSpPr/>
            <p:nvPr/>
          </p:nvSpPr>
          <p:spPr>
            <a:xfrm>
              <a:off x="594360" y="3602736"/>
              <a:ext cx="7955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/>
                <a:t>Node.js  ·  Express.js  ·  REST APIs  ·  isAuth Middleware  ·  Multer (Avatar Upload)</a:t>
              </a: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90A42A38-7DED-D42D-0CC1-9D7E56996A93}"/>
                </a:ext>
              </a:extLst>
            </p:cNvPr>
            <p:cNvSpPr/>
            <p:nvPr/>
          </p:nvSpPr>
          <p:spPr>
            <a:xfrm>
              <a:off x="411480" y="3995928"/>
              <a:ext cx="8321040" cy="57607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FA791226-1B9A-95BC-086C-837AD4827463}"/>
                </a:ext>
              </a:extLst>
            </p:cNvPr>
            <p:cNvSpPr/>
            <p:nvPr/>
          </p:nvSpPr>
          <p:spPr>
            <a:xfrm>
              <a:off x="411480" y="3995928"/>
              <a:ext cx="64008" cy="576072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4C43F6F5-0AD8-C8D2-9982-C0CD9F8C1889}"/>
                </a:ext>
              </a:extLst>
            </p:cNvPr>
            <p:cNvSpPr/>
            <p:nvPr/>
          </p:nvSpPr>
          <p:spPr>
            <a:xfrm>
              <a:off x="594360" y="406908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0891B2"/>
                  </a:solidFill>
                </a:rPr>
                <a:t>DATABASE LAYER</a:t>
              </a:r>
              <a:endParaRPr lang="en-US" sz="9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28584934-FCF2-EDB5-67B1-B23CC0583E6A}"/>
                </a:ext>
              </a:extLst>
            </p:cNvPr>
            <p:cNvSpPr/>
            <p:nvPr/>
          </p:nvSpPr>
          <p:spPr>
            <a:xfrm>
              <a:off x="594360" y="4270248"/>
              <a:ext cx="7955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/>
                <a:t>MongoDB  ·  Mongoose ODM  ·  User Schema  ·  Website Schema  ·  Conversation History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411480" y="4663440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</a:rPr>
                <a:t>REQUEST FLOW:  Browser  →  Express Router  →  isAuth Middleware  →  Controller  →  MongoDB  →  AI  →  Response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3124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B0D378-116E-8358-5B04-015B847B2477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7C5CCD-B2A9-9389-095C-C5A2BE54623B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PROJECT MODULES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4E6546-D138-231A-CB8A-5B1B0D0FD4E5}"/>
              </a:ext>
            </a:extLst>
          </p:cNvPr>
          <p:cNvSpPr/>
          <p:nvPr/>
        </p:nvSpPr>
        <p:spPr>
          <a:xfrm>
            <a:off x="365760" y="60481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Core Functional Modules of the System</a:t>
            </a:r>
            <a:endParaRPr lang="en-US" sz="26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7774191-74E4-1923-4C1F-E328AAFA8F71}"/>
              </a:ext>
            </a:extLst>
          </p:cNvPr>
          <p:cNvGrpSpPr/>
          <p:nvPr/>
        </p:nvGrpSpPr>
        <p:grpSpPr>
          <a:xfrm>
            <a:off x="411480" y="1243584"/>
            <a:ext cx="8366760" cy="3465576"/>
            <a:chOff x="411480" y="1325880"/>
            <a:chExt cx="8366760" cy="3465576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E98E29D-BA2D-488C-DED0-04D7B534A54E}"/>
                </a:ext>
              </a:extLst>
            </p:cNvPr>
            <p:cNvSpPr/>
            <p:nvPr/>
          </p:nvSpPr>
          <p:spPr>
            <a:xfrm>
              <a:off x="411480" y="1325880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3C2855E-B019-95C0-AC55-E68EF2946213}"/>
                </a:ext>
              </a:extLst>
            </p:cNvPr>
            <p:cNvSpPr/>
            <p:nvPr/>
          </p:nvSpPr>
          <p:spPr>
            <a:xfrm>
              <a:off x="521208" y="1527048"/>
              <a:ext cx="384048" cy="384048"/>
            </a:xfrm>
            <a:prstGeom prst="ellipse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09502F00-DFFF-598F-95E0-BF068A136620}"/>
                </a:ext>
              </a:extLst>
            </p:cNvPr>
            <p:cNvSpPr/>
            <p:nvPr/>
          </p:nvSpPr>
          <p:spPr>
            <a:xfrm>
              <a:off x="521208" y="152704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01</a:t>
              </a:r>
              <a:endParaRPr lang="en-US" sz="12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5143951-6895-5E54-3482-C3EA409F195D}"/>
                </a:ext>
              </a:extLst>
            </p:cNvPr>
            <p:cNvSpPr/>
            <p:nvPr/>
          </p:nvSpPr>
          <p:spPr>
            <a:xfrm>
              <a:off x="1033272" y="1399032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Auth Module</a:t>
              </a:r>
              <a:endParaRPr lang="en-US" sz="11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BD6103F8-0581-15BD-98B3-CF6DC0030816}"/>
                </a:ext>
              </a:extLst>
            </p:cNvPr>
            <p:cNvSpPr/>
            <p:nvPr/>
          </p:nvSpPr>
          <p:spPr>
            <a:xfrm>
              <a:off x="1033272" y="1673352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Register, Login, Google OAuth, JWT sessions, cookie management</a:t>
              </a:r>
              <a:endParaRPr lang="en-US" sz="90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B4469FF5-FE24-61D4-A04E-8C6852E15B66}"/>
                </a:ext>
              </a:extLst>
            </p:cNvPr>
            <p:cNvSpPr/>
            <p:nvPr/>
          </p:nvSpPr>
          <p:spPr>
            <a:xfrm>
              <a:off x="4663440" y="1325880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AABDF7C0-498F-07AE-37C9-C1DCACA7D827}"/>
                </a:ext>
              </a:extLst>
            </p:cNvPr>
            <p:cNvSpPr/>
            <p:nvPr/>
          </p:nvSpPr>
          <p:spPr>
            <a:xfrm>
              <a:off x="4773168" y="1527048"/>
              <a:ext cx="384048" cy="384048"/>
            </a:xfrm>
            <a:prstGeom prst="ellipse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6859B659-9197-939E-1A8B-8717774E1E9A}"/>
                </a:ext>
              </a:extLst>
            </p:cNvPr>
            <p:cNvSpPr/>
            <p:nvPr/>
          </p:nvSpPr>
          <p:spPr>
            <a:xfrm>
              <a:off x="4773168" y="152704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02</a:t>
              </a:r>
              <a:endParaRPr lang="en-US" sz="12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CF4B3C7F-E084-7149-A603-123BDEB79FBC}"/>
                </a:ext>
              </a:extLst>
            </p:cNvPr>
            <p:cNvSpPr/>
            <p:nvPr/>
          </p:nvSpPr>
          <p:spPr>
            <a:xfrm>
              <a:off x="5285232" y="1399032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Generate Module</a:t>
              </a:r>
              <a:endParaRPr lang="en-US" sz="11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8985017C-61A8-0393-07A6-6A270F6BE961}"/>
                </a:ext>
              </a:extLst>
            </p:cNvPr>
            <p:cNvSpPr/>
            <p:nvPr/>
          </p:nvSpPr>
          <p:spPr>
            <a:xfrm>
              <a:off x="5285232" y="1673352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Prompt → DeepSeek AI → complete HTML/CSS/JS with credit deduction</a:t>
              </a:r>
              <a:endParaRPr lang="en-US" sz="9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BE49075D-7414-BE36-FFEB-62ECBDB90AED}"/>
                </a:ext>
              </a:extLst>
            </p:cNvPr>
            <p:cNvSpPr/>
            <p:nvPr/>
          </p:nvSpPr>
          <p:spPr>
            <a:xfrm>
              <a:off x="411480" y="2221992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2243E848-A52D-902C-4B75-F6BB8BEFF0B1}"/>
                </a:ext>
              </a:extLst>
            </p:cNvPr>
            <p:cNvSpPr/>
            <p:nvPr/>
          </p:nvSpPr>
          <p:spPr>
            <a:xfrm>
              <a:off x="521208" y="2423160"/>
              <a:ext cx="384048" cy="384048"/>
            </a:xfrm>
            <a:prstGeom prst="ellipse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FEAB859-3569-FDC4-00F3-1500EC515500}"/>
                </a:ext>
              </a:extLst>
            </p:cNvPr>
            <p:cNvSpPr/>
            <p:nvPr/>
          </p:nvSpPr>
          <p:spPr>
            <a:xfrm>
              <a:off x="521208" y="242316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03</a:t>
              </a:r>
              <a:endParaRPr lang="en-US" sz="12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2104F391-209E-B976-2370-FA16731B6F44}"/>
                </a:ext>
              </a:extLst>
            </p:cNvPr>
            <p:cNvSpPr/>
            <p:nvPr/>
          </p:nvSpPr>
          <p:spPr>
            <a:xfrm>
              <a:off x="1033272" y="229514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Editor Module</a:t>
              </a:r>
              <a:endParaRPr lang="en-US" sz="11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3FE6D709-53B0-71B8-F736-415C7D4CC0DC}"/>
                </a:ext>
              </a:extLst>
            </p:cNvPr>
            <p:cNvSpPr/>
            <p:nvPr/>
          </p:nvSpPr>
          <p:spPr>
            <a:xfrm>
              <a:off x="1033272" y="2569464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Monaco editor + AI chat panel for live modifications</a:t>
              </a:r>
              <a:endParaRPr lang="en-US" sz="90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AFF5B108-7DF6-7BA5-2C7E-47D536C6CD9F}"/>
                </a:ext>
              </a:extLst>
            </p:cNvPr>
            <p:cNvSpPr/>
            <p:nvPr/>
          </p:nvSpPr>
          <p:spPr>
            <a:xfrm>
              <a:off x="4663440" y="2221992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AE190C4A-84D6-80DA-C169-B06AB51CAE3C}"/>
                </a:ext>
              </a:extLst>
            </p:cNvPr>
            <p:cNvSpPr/>
            <p:nvPr/>
          </p:nvSpPr>
          <p:spPr>
            <a:xfrm>
              <a:off x="4773168" y="2423160"/>
              <a:ext cx="384048" cy="38404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D5EBA508-F001-28D6-0C9A-6610B058D532}"/>
                </a:ext>
              </a:extLst>
            </p:cNvPr>
            <p:cNvSpPr/>
            <p:nvPr/>
          </p:nvSpPr>
          <p:spPr>
            <a:xfrm>
              <a:off x="4773168" y="242316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04</a:t>
              </a:r>
              <a:endParaRPr lang="en-US" sz="12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9EFEA79A-E1D4-4C47-76B2-9EB55BA4F573}"/>
                </a:ext>
              </a:extLst>
            </p:cNvPr>
            <p:cNvSpPr/>
            <p:nvPr/>
          </p:nvSpPr>
          <p:spPr>
            <a:xfrm>
              <a:off x="5285232" y="229514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Dashboard Module</a:t>
              </a:r>
              <a:endParaRPr lang="en-US" sz="11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3682291D-E188-A9A4-3534-46989E7E7D9A}"/>
                </a:ext>
              </a:extLst>
            </p:cNvPr>
            <p:cNvSpPr/>
            <p:nvPr/>
          </p:nvSpPr>
          <p:spPr>
            <a:xfrm>
              <a:off x="5285232" y="2569464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Projects grid — star, delete, deploy, copy link, live preview</a:t>
              </a:r>
              <a:endParaRPr lang="en-US" sz="900" dirty="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97C310D-37BA-A1D8-2A2D-8AB14BDC07A2}"/>
                </a:ext>
              </a:extLst>
            </p:cNvPr>
            <p:cNvSpPr/>
            <p:nvPr/>
          </p:nvSpPr>
          <p:spPr>
            <a:xfrm>
              <a:off x="411480" y="3118104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06AFCF08-00F5-420E-417F-187574D459BF}"/>
                </a:ext>
              </a:extLst>
            </p:cNvPr>
            <p:cNvSpPr/>
            <p:nvPr/>
          </p:nvSpPr>
          <p:spPr>
            <a:xfrm>
              <a:off x="521208" y="3319272"/>
              <a:ext cx="384048" cy="384048"/>
            </a:xfrm>
            <a:prstGeom prst="ellipse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8DBFA47E-7C80-D457-229B-D6AFE153C94B}"/>
                </a:ext>
              </a:extLst>
            </p:cNvPr>
            <p:cNvSpPr/>
            <p:nvPr/>
          </p:nvSpPr>
          <p:spPr>
            <a:xfrm>
              <a:off x="521208" y="331927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05</a:t>
              </a:r>
              <a:endParaRPr lang="en-US" sz="12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6D41029E-1D11-B75E-140D-57FD765ED717}"/>
                </a:ext>
              </a:extLst>
            </p:cNvPr>
            <p:cNvSpPr/>
            <p:nvPr/>
          </p:nvSpPr>
          <p:spPr>
            <a:xfrm>
              <a:off x="1033272" y="3191256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Sidebar Module</a:t>
              </a:r>
              <a:endParaRPr lang="en-US" sz="11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2B643CA0-5805-606E-7D59-B148C75DDCC5}"/>
                </a:ext>
              </a:extLst>
            </p:cNvPr>
            <p:cNvSpPr/>
            <p:nvPr/>
          </p:nvSpPr>
          <p:spPr>
            <a:xfrm>
              <a:off x="1033272" y="3465576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Quick prompt templates + recent websites list</a:t>
              </a:r>
              <a:endParaRPr lang="en-US" sz="900" dirty="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EF4DFD09-6A02-4FA7-98EC-83B452512FDA}"/>
                </a:ext>
              </a:extLst>
            </p:cNvPr>
            <p:cNvSpPr/>
            <p:nvPr/>
          </p:nvSpPr>
          <p:spPr>
            <a:xfrm>
              <a:off x="4663440" y="3118104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06C2AFD2-EDF6-0C78-8D62-9E684767FE01}"/>
                </a:ext>
              </a:extLst>
            </p:cNvPr>
            <p:cNvSpPr/>
            <p:nvPr/>
          </p:nvSpPr>
          <p:spPr>
            <a:xfrm>
              <a:off x="4773168" y="3319272"/>
              <a:ext cx="384048" cy="384048"/>
            </a:xfrm>
            <a:prstGeom prst="ellipse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AB5B8C0A-9ADC-D133-318D-4F49B51D6018}"/>
                </a:ext>
              </a:extLst>
            </p:cNvPr>
            <p:cNvSpPr/>
            <p:nvPr/>
          </p:nvSpPr>
          <p:spPr>
            <a:xfrm>
              <a:off x="4773168" y="331927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06</a:t>
              </a:r>
              <a:endParaRPr lang="en-US" sz="120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FF8B3001-421A-2479-C52A-1D6AFB986DCC}"/>
                </a:ext>
              </a:extLst>
            </p:cNvPr>
            <p:cNvSpPr/>
            <p:nvPr/>
          </p:nvSpPr>
          <p:spPr>
            <a:xfrm>
              <a:off x="5285232" y="3191256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Deploy Module</a:t>
              </a:r>
              <a:endParaRPr lang="en-US" sz="11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49988ED5-F7AC-BCD1-6265-220515CC80D5}"/>
                </a:ext>
              </a:extLst>
            </p:cNvPr>
            <p:cNvSpPr/>
            <p:nvPr/>
          </p:nvSpPr>
          <p:spPr>
            <a:xfrm>
              <a:off x="5285232" y="3465576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One-click publish with unique slug-based public URL</a:t>
              </a:r>
              <a:endParaRPr lang="en-US" sz="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C5BCA757-01DB-B3F0-A13D-E4EDD5A9D862}"/>
                </a:ext>
              </a:extLst>
            </p:cNvPr>
            <p:cNvSpPr/>
            <p:nvPr/>
          </p:nvSpPr>
          <p:spPr>
            <a:xfrm>
              <a:off x="411480" y="4014216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D02D2482-7D0E-140A-423F-8277EA04FEC6}"/>
                </a:ext>
              </a:extLst>
            </p:cNvPr>
            <p:cNvSpPr/>
            <p:nvPr/>
          </p:nvSpPr>
          <p:spPr>
            <a:xfrm>
              <a:off x="521208" y="4215384"/>
              <a:ext cx="384048" cy="384048"/>
            </a:xfrm>
            <a:prstGeom prst="ellipse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4822CD19-3A4E-F905-207A-D287DA2C3506}"/>
                </a:ext>
              </a:extLst>
            </p:cNvPr>
            <p:cNvSpPr/>
            <p:nvPr/>
          </p:nvSpPr>
          <p:spPr>
            <a:xfrm>
              <a:off x="521208" y="421538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07</a:t>
              </a:r>
              <a:endParaRPr lang="en-US" sz="120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74E94E09-CBE1-9994-AAE5-DBF6056B0FDE}"/>
                </a:ext>
              </a:extLst>
            </p:cNvPr>
            <p:cNvSpPr/>
            <p:nvPr/>
          </p:nvSpPr>
          <p:spPr>
            <a:xfrm>
              <a:off x="1033272" y="4087368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Profile Module</a:t>
              </a:r>
              <a:endParaRPr lang="en-US" sz="11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A6F69217-50FC-3073-AA06-2BEE63A090BF}"/>
                </a:ext>
              </a:extLst>
            </p:cNvPr>
            <p:cNvSpPr/>
            <p:nvPr/>
          </p:nvSpPr>
          <p:spPr>
            <a:xfrm>
              <a:off x="1033272" y="4361688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Edit info, avatar upload (Multer), bio, country, social links</a:t>
              </a:r>
              <a:endParaRPr lang="en-US" sz="900" dirty="0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4374DD91-96F8-7954-F256-04AD2338D9A4}"/>
                </a:ext>
              </a:extLst>
            </p:cNvPr>
            <p:cNvSpPr/>
            <p:nvPr/>
          </p:nvSpPr>
          <p:spPr>
            <a:xfrm>
              <a:off x="4663440" y="4014216"/>
              <a:ext cx="4114800" cy="77724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7B2D0E54-EF97-2BED-6EC4-73051E25AF24}"/>
                </a:ext>
              </a:extLst>
            </p:cNvPr>
            <p:cNvSpPr/>
            <p:nvPr/>
          </p:nvSpPr>
          <p:spPr>
            <a:xfrm>
              <a:off x="4773168" y="4215384"/>
              <a:ext cx="384048" cy="384048"/>
            </a:xfrm>
            <a:prstGeom prst="ellipse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54B2A5F8-713C-7FEF-30C2-79DDD5134DA0}"/>
                </a:ext>
              </a:extLst>
            </p:cNvPr>
            <p:cNvSpPr/>
            <p:nvPr/>
          </p:nvSpPr>
          <p:spPr>
            <a:xfrm>
              <a:off x="4773168" y="421538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08</a:t>
              </a:r>
              <a:endParaRPr lang="en-US" sz="1200" dirty="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D4E267ED-16A1-D2F5-724B-3221C38670C3}"/>
                </a:ext>
              </a:extLst>
            </p:cNvPr>
            <p:cNvSpPr/>
            <p:nvPr/>
          </p:nvSpPr>
          <p:spPr>
            <a:xfrm>
              <a:off x="5285232" y="4087368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Settings Module</a:t>
              </a:r>
              <a:endParaRPr lang="en-US" sz="1100" dirty="0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9D91C1AE-F6C2-8272-5E96-91ACEE0FBABF}"/>
                </a:ext>
              </a:extLst>
            </p:cNvPr>
            <p:cNvSpPr/>
            <p:nvPr/>
          </p:nvSpPr>
          <p:spPr>
            <a:xfrm>
              <a:off x="5285232" y="4361688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Notification prefs, privacy, language, timezone, theme toggle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4521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479C80-704F-EEE8-CE8C-8A63E575F07E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84B0CB-05FE-4DB5-05D5-C73E04268607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FRONTEND TECHNOLOGIES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5C1BCE-63C4-33BE-40AA-AAF76C52B521}"/>
              </a:ext>
            </a:extLst>
          </p:cNvPr>
          <p:cNvSpPr/>
          <p:nvPr/>
        </p:nvSpPr>
        <p:spPr>
          <a:xfrm>
            <a:off x="313509" y="44805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React + Vite — Modern SPA Architecture</a:t>
            </a:r>
            <a:endParaRPr lang="en-US" sz="2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239AFF-72D9-3C5A-1799-FEF175B1E61E}"/>
              </a:ext>
            </a:extLst>
          </p:cNvPr>
          <p:cNvGrpSpPr/>
          <p:nvPr/>
        </p:nvGrpSpPr>
        <p:grpSpPr>
          <a:xfrm>
            <a:off x="411480" y="996696"/>
            <a:ext cx="8366760" cy="3639312"/>
            <a:chOff x="411480" y="1280160"/>
            <a:chExt cx="8366760" cy="3639312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32C35DBF-44D4-D41F-FE1C-5103D0EC1121}"/>
                </a:ext>
              </a:extLst>
            </p:cNvPr>
            <p:cNvSpPr/>
            <p:nvPr/>
          </p:nvSpPr>
          <p:spPr>
            <a:xfrm>
              <a:off x="411480" y="1280160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BF939B76-EF42-2E60-60A5-DC9EC8D1276C}"/>
                </a:ext>
              </a:extLst>
            </p:cNvPr>
            <p:cNvSpPr/>
            <p:nvPr/>
          </p:nvSpPr>
          <p:spPr>
            <a:xfrm>
              <a:off x="411480" y="1280160"/>
              <a:ext cx="64008" cy="640080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AAC3B460-1B5E-10C7-7BB1-2D560F9698E2}"/>
                </a:ext>
              </a:extLst>
            </p:cNvPr>
            <p:cNvSpPr/>
            <p:nvPr/>
          </p:nvSpPr>
          <p:spPr>
            <a:xfrm>
              <a:off x="576072" y="1444752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1A56DB">
                <a:alpha val="15000"/>
              </a:srgbClr>
            </a:solidFill>
            <a:ln w="12700">
              <a:solidFill>
                <a:srgbClr val="1A56DB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FFDCBEBD-FF6B-FF93-8C76-D37A12FE2B52}"/>
                </a:ext>
              </a:extLst>
            </p:cNvPr>
            <p:cNvSpPr/>
            <p:nvPr/>
          </p:nvSpPr>
          <p:spPr>
            <a:xfrm>
              <a:off x="576072" y="1444752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56DB"/>
                  </a:solidFill>
                </a:rPr>
                <a:t>^18.2.0</a:t>
              </a:r>
              <a:endParaRPr lang="en-US" sz="75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EFA2F577-EB95-273D-63B6-D72342C13AB6}"/>
                </a:ext>
              </a:extLst>
            </p:cNvPr>
            <p:cNvSpPr/>
            <p:nvPr/>
          </p:nvSpPr>
          <p:spPr>
            <a:xfrm>
              <a:off x="1371600" y="133502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React.js</a:t>
              </a:r>
              <a:endParaRPr lang="en-US" sz="110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BEC11F97-8237-AF3C-A25E-4A8FE74FD7AC}"/>
                </a:ext>
              </a:extLst>
            </p:cNvPr>
            <p:cNvSpPr/>
            <p:nvPr/>
          </p:nvSpPr>
          <p:spPr>
            <a:xfrm>
              <a:off x="1371600" y="1609344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Component-based UI with hooks</a:t>
              </a:r>
              <a:endParaRPr lang="en-US" sz="9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2973C095-D46F-81AD-427A-F3FB4CEFA78A}"/>
                </a:ext>
              </a:extLst>
            </p:cNvPr>
            <p:cNvSpPr/>
            <p:nvPr/>
          </p:nvSpPr>
          <p:spPr>
            <a:xfrm>
              <a:off x="4663440" y="1280160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761E9790-1805-D1AF-8317-134670C4A2F4}"/>
                </a:ext>
              </a:extLst>
            </p:cNvPr>
            <p:cNvSpPr/>
            <p:nvPr/>
          </p:nvSpPr>
          <p:spPr>
            <a:xfrm>
              <a:off x="4663440" y="1280160"/>
              <a:ext cx="64008" cy="640080"/>
            </a:xfrm>
            <a:prstGeom prst="rect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75E762C1-FF1B-8C94-BD8E-5C00455854E5}"/>
                </a:ext>
              </a:extLst>
            </p:cNvPr>
            <p:cNvSpPr/>
            <p:nvPr/>
          </p:nvSpPr>
          <p:spPr>
            <a:xfrm>
              <a:off x="4828032" y="1444752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FF5A1F">
                <a:alpha val="15000"/>
              </a:srgbClr>
            </a:solidFill>
            <a:ln w="12700">
              <a:solidFill>
                <a:srgbClr val="FF5A1F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40D298AF-8E4F-2E1C-8C9A-9292FA560D03}"/>
                </a:ext>
              </a:extLst>
            </p:cNvPr>
            <p:cNvSpPr/>
            <p:nvPr/>
          </p:nvSpPr>
          <p:spPr>
            <a:xfrm>
              <a:off x="4828032" y="1444752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5A1F"/>
                  </a:solidFill>
                </a:rPr>
                <a:t>^5.1.4</a:t>
              </a:r>
              <a:endParaRPr lang="en-US" sz="75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BE479B80-A00E-42AD-AFC9-BA1CE20DEDDA}"/>
                </a:ext>
              </a:extLst>
            </p:cNvPr>
            <p:cNvSpPr/>
            <p:nvPr/>
          </p:nvSpPr>
          <p:spPr>
            <a:xfrm>
              <a:off x="5623560" y="1335024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Vite</a:t>
              </a:r>
              <a:endParaRPr lang="en-US" sz="1100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7F158D0E-EAB0-2EF3-2332-84FFE765A6F8}"/>
                </a:ext>
              </a:extLst>
            </p:cNvPr>
            <p:cNvSpPr/>
            <p:nvPr/>
          </p:nvSpPr>
          <p:spPr>
            <a:xfrm>
              <a:off x="5623560" y="1609344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Lightning-fast dev build tool</a:t>
              </a:r>
              <a:endParaRPr lang="en-US" sz="900" dirty="0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0456ECED-69DB-1933-4096-D3F65FB6340D}"/>
                </a:ext>
              </a:extLst>
            </p:cNvPr>
            <p:cNvSpPr/>
            <p:nvPr/>
          </p:nvSpPr>
          <p:spPr>
            <a:xfrm>
              <a:off x="411480" y="2029968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5F7EA733-F9BD-AAFF-6E58-B0A476EF7A85}"/>
                </a:ext>
              </a:extLst>
            </p:cNvPr>
            <p:cNvSpPr/>
            <p:nvPr/>
          </p:nvSpPr>
          <p:spPr>
            <a:xfrm>
              <a:off x="411480" y="2029968"/>
              <a:ext cx="64008" cy="640080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E5097DDC-5867-D9BF-AB67-63A181A865EA}"/>
                </a:ext>
              </a:extLst>
            </p:cNvPr>
            <p:cNvSpPr/>
            <p:nvPr/>
          </p:nvSpPr>
          <p:spPr>
            <a:xfrm>
              <a:off x="576072" y="2194560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0891B2">
                <a:alpha val="15000"/>
              </a:srgbClr>
            </a:solidFill>
            <a:ln w="12700">
              <a:solidFill>
                <a:srgbClr val="0891B2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17DAE31B-76E3-2CE9-A25C-FD40F956F967}"/>
                </a:ext>
              </a:extLst>
            </p:cNvPr>
            <p:cNvSpPr/>
            <p:nvPr/>
          </p:nvSpPr>
          <p:spPr>
            <a:xfrm>
              <a:off x="576072" y="219456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891B2"/>
                  </a:solidFill>
                </a:rPr>
                <a:t>^4.0.0</a:t>
              </a:r>
              <a:endParaRPr lang="en-US" sz="750" dirty="0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7934D89E-AB99-39AF-741E-BB58F72B3102}"/>
                </a:ext>
              </a:extLst>
            </p:cNvPr>
            <p:cNvSpPr/>
            <p:nvPr/>
          </p:nvSpPr>
          <p:spPr>
            <a:xfrm>
              <a:off x="1371600" y="208483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Tailwind CSS</a:t>
              </a:r>
              <a:endParaRPr lang="en-US" sz="110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2B2804B3-134C-4018-0BAB-878B126E3EEE}"/>
                </a:ext>
              </a:extLst>
            </p:cNvPr>
            <p:cNvSpPr/>
            <p:nvPr/>
          </p:nvSpPr>
          <p:spPr>
            <a:xfrm>
              <a:off x="1371600" y="2359152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Utility-first responsive styling</a:t>
              </a:r>
              <a:endParaRPr lang="en-US" sz="90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6831C9FE-1E64-D279-A280-834DD8E171D1}"/>
                </a:ext>
              </a:extLst>
            </p:cNvPr>
            <p:cNvSpPr/>
            <p:nvPr/>
          </p:nvSpPr>
          <p:spPr>
            <a:xfrm>
              <a:off x="4663440" y="2029968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BB6C00ED-3458-0DE2-5695-9DBD572A3C43}"/>
                </a:ext>
              </a:extLst>
            </p:cNvPr>
            <p:cNvSpPr/>
            <p:nvPr/>
          </p:nvSpPr>
          <p:spPr>
            <a:xfrm>
              <a:off x="4663440" y="2029968"/>
              <a:ext cx="64008" cy="64008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BA868A8B-ECD3-F74B-1288-55CEE1BCA630}"/>
                </a:ext>
              </a:extLst>
            </p:cNvPr>
            <p:cNvSpPr/>
            <p:nvPr/>
          </p:nvSpPr>
          <p:spPr>
            <a:xfrm>
              <a:off x="4828032" y="2194560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7C3AED">
                <a:alpha val="15000"/>
              </a:srgbClr>
            </a:solidFill>
            <a:ln w="12700">
              <a:solidFill>
                <a:srgbClr val="7C3AED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294550A0-4C1E-B516-4BF3-88353859BB33}"/>
                </a:ext>
              </a:extLst>
            </p:cNvPr>
            <p:cNvSpPr/>
            <p:nvPr/>
          </p:nvSpPr>
          <p:spPr>
            <a:xfrm>
              <a:off x="4828032" y="219456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7C3AED"/>
                  </a:solidFill>
                </a:rPr>
                <a:t>Latest</a:t>
              </a:r>
              <a:endParaRPr lang="en-US" sz="75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242F1ED0-C9DD-F34D-5652-3DB92D3C347A}"/>
                </a:ext>
              </a:extLst>
            </p:cNvPr>
            <p:cNvSpPr/>
            <p:nvPr/>
          </p:nvSpPr>
          <p:spPr>
            <a:xfrm>
              <a:off x="5623560" y="208483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Redux Toolkit</a:t>
              </a:r>
              <a:endParaRPr lang="en-US" sz="110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4D3E21C4-574A-C7AE-A6E9-6FB52F8D6459}"/>
                </a:ext>
              </a:extLst>
            </p:cNvPr>
            <p:cNvSpPr/>
            <p:nvPr/>
          </p:nvSpPr>
          <p:spPr>
            <a:xfrm>
              <a:off x="5623560" y="2359152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Global state management</a:t>
              </a:r>
              <a:endParaRPr lang="en-US" sz="900" dirty="0"/>
            </a:p>
          </p:txBody>
        </p:sp>
        <p:sp>
          <p:nvSpPr>
            <p:cNvPr id="30" name="Shape 27">
              <a:extLst>
                <a:ext uri="{FF2B5EF4-FFF2-40B4-BE49-F238E27FC236}">
                  <a16:creationId xmlns:a16="http://schemas.microsoft.com/office/drawing/2014/main" id="{057288C6-0B7A-6D4E-F224-B1398D1991C6}"/>
                </a:ext>
              </a:extLst>
            </p:cNvPr>
            <p:cNvSpPr/>
            <p:nvPr/>
          </p:nvSpPr>
          <p:spPr>
            <a:xfrm>
              <a:off x="411480" y="2779776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6782C470-36E7-68EE-25FF-30E78DD64FC0}"/>
                </a:ext>
              </a:extLst>
            </p:cNvPr>
            <p:cNvSpPr/>
            <p:nvPr/>
          </p:nvSpPr>
          <p:spPr>
            <a:xfrm>
              <a:off x="411480" y="2779776"/>
              <a:ext cx="64008" cy="640080"/>
            </a:xfrm>
            <a:prstGeom prst="rect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C0CC8059-C643-E2D1-74E1-EB1152AD52DF}"/>
                </a:ext>
              </a:extLst>
            </p:cNvPr>
            <p:cNvSpPr/>
            <p:nvPr/>
          </p:nvSpPr>
          <p:spPr>
            <a:xfrm>
              <a:off x="576072" y="2944368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0E9F6E">
                <a:alpha val="15000"/>
              </a:srgbClr>
            </a:solidFill>
            <a:ln w="12700">
              <a:solidFill>
                <a:srgbClr val="0E9F6E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A8951A25-28DE-14DF-E430-81DC4E182777}"/>
                </a:ext>
              </a:extLst>
            </p:cNvPr>
            <p:cNvSpPr/>
            <p:nvPr/>
          </p:nvSpPr>
          <p:spPr>
            <a:xfrm>
              <a:off x="576072" y="2944368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E9F6E"/>
                  </a:solidFill>
                </a:rPr>
                <a:t>^11.0.0</a:t>
              </a:r>
              <a:endParaRPr lang="en-US" sz="750" dirty="0"/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6D536C92-3596-02F6-98F5-3874BFECAB9F}"/>
                </a:ext>
              </a:extLst>
            </p:cNvPr>
            <p:cNvSpPr/>
            <p:nvPr/>
          </p:nvSpPr>
          <p:spPr>
            <a:xfrm>
              <a:off x="1371600" y="2834640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Framer Motion</a:t>
              </a:r>
              <a:endParaRPr lang="en-US" sz="1100" dirty="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B376B980-9255-9790-72FA-A033D0176FE4}"/>
                </a:ext>
              </a:extLst>
            </p:cNvPr>
            <p:cNvSpPr/>
            <p:nvPr/>
          </p:nvSpPr>
          <p:spPr>
            <a:xfrm>
              <a:off x="1371600" y="3108960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Smooth animations &amp; transitions</a:t>
              </a:r>
              <a:endParaRPr lang="en-US" sz="900" dirty="0"/>
            </a:p>
          </p:txBody>
        </p:sp>
        <p:sp>
          <p:nvSpPr>
            <p:cNvPr id="36" name="Shape 33">
              <a:extLst>
                <a:ext uri="{FF2B5EF4-FFF2-40B4-BE49-F238E27FC236}">
                  <a16:creationId xmlns:a16="http://schemas.microsoft.com/office/drawing/2014/main" id="{677C8FE3-C576-6D9B-28B6-7664CD1BDFE1}"/>
                </a:ext>
              </a:extLst>
            </p:cNvPr>
            <p:cNvSpPr/>
            <p:nvPr/>
          </p:nvSpPr>
          <p:spPr>
            <a:xfrm>
              <a:off x="4663440" y="2779776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Shape 34">
              <a:extLst>
                <a:ext uri="{FF2B5EF4-FFF2-40B4-BE49-F238E27FC236}">
                  <a16:creationId xmlns:a16="http://schemas.microsoft.com/office/drawing/2014/main" id="{FAC74FAA-B52E-590E-48FC-DA137681484C}"/>
                </a:ext>
              </a:extLst>
            </p:cNvPr>
            <p:cNvSpPr/>
            <p:nvPr/>
          </p:nvSpPr>
          <p:spPr>
            <a:xfrm>
              <a:off x="4663440" y="2779776"/>
              <a:ext cx="64008" cy="640080"/>
            </a:xfrm>
            <a:prstGeom prst="rect">
              <a:avLst/>
            </a:prstGeom>
            <a:solidFill>
              <a:srgbClr val="111928"/>
            </a:solidFill>
            <a:ln w="12700">
              <a:solidFill>
                <a:srgbClr val="11192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Shape 35">
              <a:extLst>
                <a:ext uri="{FF2B5EF4-FFF2-40B4-BE49-F238E27FC236}">
                  <a16:creationId xmlns:a16="http://schemas.microsoft.com/office/drawing/2014/main" id="{FA676E82-304E-028D-385F-62F6D2D88BE0}"/>
                </a:ext>
              </a:extLst>
            </p:cNvPr>
            <p:cNvSpPr/>
            <p:nvPr/>
          </p:nvSpPr>
          <p:spPr>
            <a:xfrm>
              <a:off x="4828032" y="2944368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111928">
                <a:alpha val="15000"/>
              </a:srgbClr>
            </a:solidFill>
            <a:ln w="12700">
              <a:solidFill>
                <a:srgbClr val="11192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76625A99-9B96-599B-B589-62C610C7F5AF}"/>
                </a:ext>
              </a:extLst>
            </p:cNvPr>
            <p:cNvSpPr/>
            <p:nvPr/>
          </p:nvSpPr>
          <p:spPr>
            <a:xfrm>
              <a:off x="4828032" y="2944368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11928"/>
                  </a:solidFill>
                </a:rPr>
                <a:t>Latest</a:t>
              </a:r>
              <a:endParaRPr lang="en-US" sz="750" dirty="0"/>
            </a:p>
          </p:txBody>
        </p:sp>
        <p:sp>
          <p:nvSpPr>
            <p:cNvPr id="40" name="Text 37">
              <a:extLst>
                <a:ext uri="{FF2B5EF4-FFF2-40B4-BE49-F238E27FC236}">
                  <a16:creationId xmlns:a16="http://schemas.microsoft.com/office/drawing/2014/main" id="{1E633361-659A-43F4-4CC4-B1593E57B892}"/>
                </a:ext>
              </a:extLst>
            </p:cNvPr>
            <p:cNvSpPr/>
            <p:nvPr/>
          </p:nvSpPr>
          <p:spPr>
            <a:xfrm>
              <a:off x="5623560" y="2834640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Monaco Editor</a:t>
              </a:r>
              <a:endParaRPr lang="en-US" sz="1100" dirty="0"/>
            </a:p>
          </p:txBody>
        </p:sp>
        <p:sp>
          <p:nvSpPr>
            <p:cNvPr id="41" name="Text 38">
              <a:extLst>
                <a:ext uri="{FF2B5EF4-FFF2-40B4-BE49-F238E27FC236}">
                  <a16:creationId xmlns:a16="http://schemas.microsoft.com/office/drawing/2014/main" id="{1951694C-4280-124D-3B63-B204E60A4D66}"/>
                </a:ext>
              </a:extLst>
            </p:cNvPr>
            <p:cNvSpPr/>
            <p:nvPr/>
          </p:nvSpPr>
          <p:spPr>
            <a:xfrm>
              <a:off x="5623560" y="3108960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In-browser VS Code editor</a:t>
              </a:r>
              <a:endParaRPr lang="en-US" sz="900" dirty="0"/>
            </a:p>
          </p:txBody>
        </p:sp>
        <p:sp>
          <p:nvSpPr>
            <p:cNvPr id="42" name="Shape 39">
              <a:extLst>
                <a:ext uri="{FF2B5EF4-FFF2-40B4-BE49-F238E27FC236}">
                  <a16:creationId xmlns:a16="http://schemas.microsoft.com/office/drawing/2014/main" id="{3D186362-982F-1290-B2D6-5C8E652C1E53}"/>
                </a:ext>
              </a:extLst>
            </p:cNvPr>
            <p:cNvSpPr/>
            <p:nvPr/>
          </p:nvSpPr>
          <p:spPr>
            <a:xfrm>
              <a:off x="411480" y="3529584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Shape 40">
              <a:extLst>
                <a:ext uri="{FF2B5EF4-FFF2-40B4-BE49-F238E27FC236}">
                  <a16:creationId xmlns:a16="http://schemas.microsoft.com/office/drawing/2014/main" id="{0D87891F-025D-3812-3B9B-19834BE6398E}"/>
                </a:ext>
              </a:extLst>
            </p:cNvPr>
            <p:cNvSpPr/>
            <p:nvPr/>
          </p:nvSpPr>
          <p:spPr>
            <a:xfrm>
              <a:off x="411480" y="3529584"/>
              <a:ext cx="64008" cy="64008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Shape 41">
              <a:extLst>
                <a:ext uri="{FF2B5EF4-FFF2-40B4-BE49-F238E27FC236}">
                  <a16:creationId xmlns:a16="http://schemas.microsoft.com/office/drawing/2014/main" id="{379D6697-ED53-9263-37C9-333BD2BE43BC}"/>
                </a:ext>
              </a:extLst>
            </p:cNvPr>
            <p:cNvSpPr/>
            <p:nvPr/>
          </p:nvSpPr>
          <p:spPr>
            <a:xfrm>
              <a:off x="576072" y="3694176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D97706">
                <a:alpha val="15000"/>
              </a:srgbClr>
            </a:solidFill>
            <a:ln w="12700">
              <a:solidFill>
                <a:srgbClr val="D9770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 42">
              <a:extLst>
                <a:ext uri="{FF2B5EF4-FFF2-40B4-BE49-F238E27FC236}">
                  <a16:creationId xmlns:a16="http://schemas.microsoft.com/office/drawing/2014/main" id="{005D19F9-9E4D-C48A-09CB-A6B58292C347}"/>
                </a:ext>
              </a:extLst>
            </p:cNvPr>
            <p:cNvSpPr/>
            <p:nvPr/>
          </p:nvSpPr>
          <p:spPr>
            <a:xfrm>
              <a:off x="576072" y="3694176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D97706"/>
                  </a:solidFill>
                </a:rPr>
                <a:t>^6.22.0</a:t>
              </a:r>
              <a:endParaRPr lang="en-US" sz="750" dirty="0"/>
            </a:p>
          </p:txBody>
        </p:sp>
        <p:sp>
          <p:nvSpPr>
            <p:cNvPr id="46" name="Text 43">
              <a:extLst>
                <a:ext uri="{FF2B5EF4-FFF2-40B4-BE49-F238E27FC236}">
                  <a16:creationId xmlns:a16="http://schemas.microsoft.com/office/drawing/2014/main" id="{1E2DF5C7-5ED8-3342-1DB6-4591F1EDE894}"/>
                </a:ext>
              </a:extLst>
            </p:cNvPr>
            <p:cNvSpPr/>
            <p:nvPr/>
          </p:nvSpPr>
          <p:spPr>
            <a:xfrm>
              <a:off x="1371600" y="3584448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React Router</a:t>
              </a:r>
              <a:endParaRPr lang="en-US" sz="1100" dirty="0"/>
            </a:p>
          </p:txBody>
        </p:sp>
        <p:sp>
          <p:nvSpPr>
            <p:cNvPr id="47" name="Text 44">
              <a:extLst>
                <a:ext uri="{FF2B5EF4-FFF2-40B4-BE49-F238E27FC236}">
                  <a16:creationId xmlns:a16="http://schemas.microsoft.com/office/drawing/2014/main" id="{DDBCEEC2-529E-9A57-9075-7BC9AF4AE49B}"/>
                </a:ext>
              </a:extLst>
            </p:cNvPr>
            <p:cNvSpPr/>
            <p:nvPr/>
          </p:nvSpPr>
          <p:spPr>
            <a:xfrm>
              <a:off x="1371600" y="3858768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Client-side routing &amp; navigation</a:t>
              </a:r>
              <a:endParaRPr lang="en-US" sz="900" dirty="0"/>
            </a:p>
          </p:txBody>
        </p:sp>
        <p:sp>
          <p:nvSpPr>
            <p:cNvPr id="48" name="Shape 45">
              <a:extLst>
                <a:ext uri="{FF2B5EF4-FFF2-40B4-BE49-F238E27FC236}">
                  <a16:creationId xmlns:a16="http://schemas.microsoft.com/office/drawing/2014/main" id="{984BA5B0-047E-FC83-604D-F79CAF3079E1}"/>
                </a:ext>
              </a:extLst>
            </p:cNvPr>
            <p:cNvSpPr/>
            <p:nvPr/>
          </p:nvSpPr>
          <p:spPr>
            <a:xfrm>
              <a:off x="4663440" y="3529584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Shape 46">
              <a:extLst>
                <a:ext uri="{FF2B5EF4-FFF2-40B4-BE49-F238E27FC236}">
                  <a16:creationId xmlns:a16="http://schemas.microsoft.com/office/drawing/2014/main" id="{A6E42957-8654-479D-159B-3F1B4779CF57}"/>
                </a:ext>
              </a:extLst>
            </p:cNvPr>
            <p:cNvSpPr/>
            <p:nvPr/>
          </p:nvSpPr>
          <p:spPr>
            <a:xfrm>
              <a:off x="4663440" y="3529584"/>
              <a:ext cx="64008" cy="640080"/>
            </a:xfrm>
            <a:prstGeom prst="rect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Shape 47">
              <a:extLst>
                <a:ext uri="{FF2B5EF4-FFF2-40B4-BE49-F238E27FC236}">
                  <a16:creationId xmlns:a16="http://schemas.microsoft.com/office/drawing/2014/main" id="{31B101A2-971C-BD8A-88E7-1942ED6B804F}"/>
                </a:ext>
              </a:extLst>
            </p:cNvPr>
            <p:cNvSpPr/>
            <p:nvPr/>
          </p:nvSpPr>
          <p:spPr>
            <a:xfrm>
              <a:off x="4828032" y="3694176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0E9F6E">
                <a:alpha val="15000"/>
              </a:srgbClr>
            </a:solidFill>
            <a:ln w="12700">
              <a:solidFill>
                <a:srgbClr val="0E9F6E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 48">
              <a:extLst>
                <a:ext uri="{FF2B5EF4-FFF2-40B4-BE49-F238E27FC236}">
                  <a16:creationId xmlns:a16="http://schemas.microsoft.com/office/drawing/2014/main" id="{CEE7914B-9947-CAFD-D3C3-45DB45C37AA5}"/>
                </a:ext>
              </a:extLst>
            </p:cNvPr>
            <p:cNvSpPr/>
            <p:nvPr/>
          </p:nvSpPr>
          <p:spPr>
            <a:xfrm>
              <a:off x="4828032" y="3694176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E9F6E"/>
                  </a:solidFill>
                </a:rPr>
                <a:t>^1.6.7</a:t>
              </a:r>
              <a:endParaRPr lang="en-US" sz="750" dirty="0"/>
            </a:p>
          </p:txBody>
        </p:sp>
        <p:sp>
          <p:nvSpPr>
            <p:cNvPr id="52" name="Text 49">
              <a:extLst>
                <a:ext uri="{FF2B5EF4-FFF2-40B4-BE49-F238E27FC236}">
                  <a16:creationId xmlns:a16="http://schemas.microsoft.com/office/drawing/2014/main" id="{2070B251-0785-4221-66F0-8012D1388E86}"/>
                </a:ext>
              </a:extLst>
            </p:cNvPr>
            <p:cNvSpPr/>
            <p:nvPr/>
          </p:nvSpPr>
          <p:spPr>
            <a:xfrm>
              <a:off x="5623560" y="3584448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Axios</a:t>
              </a:r>
              <a:endParaRPr lang="en-US" sz="1100" dirty="0"/>
            </a:p>
          </p:txBody>
        </p:sp>
        <p:sp>
          <p:nvSpPr>
            <p:cNvPr id="53" name="Text 50">
              <a:extLst>
                <a:ext uri="{FF2B5EF4-FFF2-40B4-BE49-F238E27FC236}">
                  <a16:creationId xmlns:a16="http://schemas.microsoft.com/office/drawing/2014/main" id="{FDC930EC-9A50-F172-4630-861CEEA14843}"/>
                </a:ext>
              </a:extLst>
            </p:cNvPr>
            <p:cNvSpPr/>
            <p:nvPr/>
          </p:nvSpPr>
          <p:spPr>
            <a:xfrm>
              <a:off x="5623560" y="3858768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HTTP requests to backend APIs</a:t>
              </a:r>
              <a:endParaRPr lang="en-US" sz="900" dirty="0"/>
            </a:p>
          </p:txBody>
        </p:sp>
        <p:sp>
          <p:nvSpPr>
            <p:cNvPr id="54" name="Shape 51">
              <a:extLst>
                <a:ext uri="{FF2B5EF4-FFF2-40B4-BE49-F238E27FC236}">
                  <a16:creationId xmlns:a16="http://schemas.microsoft.com/office/drawing/2014/main" id="{34896357-99F4-7B80-5E7C-479E2BFE810B}"/>
                </a:ext>
              </a:extLst>
            </p:cNvPr>
            <p:cNvSpPr/>
            <p:nvPr/>
          </p:nvSpPr>
          <p:spPr>
            <a:xfrm>
              <a:off x="411480" y="4279392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Shape 52">
              <a:extLst>
                <a:ext uri="{FF2B5EF4-FFF2-40B4-BE49-F238E27FC236}">
                  <a16:creationId xmlns:a16="http://schemas.microsoft.com/office/drawing/2014/main" id="{73870F5A-7E2A-51E9-E27A-C9711B63EA08}"/>
                </a:ext>
              </a:extLst>
            </p:cNvPr>
            <p:cNvSpPr/>
            <p:nvPr/>
          </p:nvSpPr>
          <p:spPr>
            <a:xfrm>
              <a:off x="411480" y="4279392"/>
              <a:ext cx="64008" cy="640080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Shape 53">
              <a:extLst>
                <a:ext uri="{FF2B5EF4-FFF2-40B4-BE49-F238E27FC236}">
                  <a16:creationId xmlns:a16="http://schemas.microsoft.com/office/drawing/2014/main" id="{AD567BE5-047C-DE7B-9CDF-7C240D12373E}"/>
                </a:ext>
              </a:extLst>
            </p:cNvPr>
            <p:cNvSpPr/>
            <p:nvPr/>
          </p:nvSpPr>
          <p:spPr>
            <a:xfrm>
              <a:off x="576072" y="4443984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1A56DB">
                <a:alpha val="15000"/>
              </a:srgbClr>
            </a:solidFill>
            <a:ln w="12700">
              <a:solidFill>
                <a:srgbClr val="1A56DB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 54">
              <a:extLst>
                <a:ext uri="{FF2B5EF4-FFF2-40B4-BE49-F238E27FC236}">
                  <a16:creationId xmlns:a16="http://schemas.microsoft.com/office/drawing/2014/main" id="{C51981AD-A37F-4742-188E-B4B293F632F0}"/>
                </a:ext>
              </a:extLst>
            </p:cNvPr>
            <p:cNvSpPr/>
            <p:nvPr/>
          </p:nvSpPr>
          <p:spPr>
            <a:xfrm>
              <a:off x="576072" y="4443984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56DB"/>
                  </a:solidFill>
                </a:rPr>
                <a:t>^0.383.0</a:t>
              </a:r>
              <a:endParaRPr lang="en-US" sz="750" dirty="0"/>
            </a:p>
          </p:txBody>
        </p:sp>
        <p:sp>
          <p:nvSpPr>
            <p:cNvPr id="58" name="Text 55">
              <a:extLst>
                <a:ext uri="{FF2B5EF4-FFF2-40B4-BE49-F238E27FC236}">
                  <a16:creationId xmlns:a16="http://schemas.microsoft.com/office/drawing/2014/main" id="{6AC9F7F1-F7BF-F79E-762F-2F2D97916154}"/>
                </a:ext>
              </a:extLst>
            </p:cNvPr>
            <p:cNvSpPr/>
            <p:nvPr/>
          </p:nvSpPr>
          <p:spPr>
            <a:xfrm>
              <a:off x="1371600" y="4334256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Lucide React</a:t>
              </a:r>
              <a:endParaRPr lang="en-US" sz="1100" dirty="0"/>
            </a:p>
          </p:txBody>
        </p:sp>
        <p:sp>
          <p:nvSpPr>
            <p:cNvPr id="59" name="Text 56">
              <a:extLst>
                <a:ext uri="{FF2B5EF4-FFF2-40B4-BE49-F238E27FC236}">
                  <a16:creationId xmlns:a16="http://schemas.microsoft.com/office/drawing/2014/main" id="{09216D7F-1B10-1DAD-3732-4C95DAB0C69D}"/>
                </a:ext>
              </a:extLst>
            </p:cNvPr>
            <p:cNvSpPr/>
            <p:nvPr/>
          </p:nvSpPr>
          <p:spPr>
            <a:xfrm>
              <a:off x="1371600" y="4608576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Modern icon library</a:t>
              </a:r>
              <a:endParaRPr lang="en-US" sz="900" dirty="0"/>
            </a:p>
          </p:txBody>
        </p:sp>
        <p:sp>
          <p:nvSpPr>
            <p:cNvPr id="60" name="Shape 57">
              <a:extLst>
                <a:ext uri="{FF2B5EF4-FFF2-40B4-BE49-F238E27FC236}">
                  <a16:creationId xmlns:a16="http://schemas.microsoft.com/office/drawing/2014/main" id="{913CF3CD-AF4E-D2FE-6B7C-0CBD094571A9}"/>
                </a:ext>
              </a:extLst>
            </p:cNvPr>
            <p:cNvSpPr/>
            <p:nvPr/>
          </p:nvSpPr>
          <p:spPr>
            <a:xfrm>
              <a:off x="4663440" y="4279392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Shape 58">
              <a:extLst>
                <a:ext uri="{FF2B5EF4-FFF2-40B4-BE49-F238E27FC236}">
                  <a16:creationId xmlns:a16="http://schemas.microsoft.com/office/drawing/2014/main" id="{75760AE0-4B1E-03CF-18A8-0901AF894A62}"/>
                </a:ext>
              </a:extLst>
            </p:cNvPr>
            <p:cNvSpPr/>
            <p:nvPr/>
          </p:nvSpPr>
          <p:spPr>
            <a:xfrm>
              <a:off x="4663440" y="4279392"/>
              <a:ext cx="64008" cy="640080"/>
            </a:xfrm>
            <a:prstGeom prst="rect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Shape 59">
              <a:extLst>
                <a:ext uri="{FF2B5EF4-FFF2-40B4-BE49-F238E27FC236}">
                  <a16:creationId xmlns:a16="http://schemas.microsoft.com/office/drawing/2014/main" id="{042AF5D4-4EC2-F36C-FF78-C1D308B51761}"/>
                </a:ext>
              </a:extLst>
            </p:cNvPr>
            <p:cNvSpPr/>
            <p:nvPr/>
          </p:nvSpPr>
          <p:spPr>
            <a:xfrm>
              <a:off x="4828032" y="4443984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FF5A1F">
                <a:alpha val="15000"/>
              </a:srgbClr>
            </a:solidFill>
            <a:ln w="12700">
              <a:solidFill>
                <a:srgbClr val="FF5A1F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Text 60">
              <a:extLst>
                <a:ext uri="{FF2B5EF4-FFF2-40B4-BE49-F238E27FC236}">
                  <a16:creationId xmlns:a16="http://schemas.microsoft.com/office/drawing/2014/main" id="{5612A3CA-DF6A-6BAC-C7E9-3D142BDBC13E}"/>
                </a:ext>
              </a:extLst>
            </p:cNvPr>
            <p:cNvSpPr/>
            <p:nvPr/>
          </p:nvSpPr>
          <p:spPr>
            <a:xfrm>
              <a:off x="4828032" y="4443984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5A1F"/>
                  </a:solidFill>
                </a:rPr>
                <a:t>Latest</a:t>
              </a:r>
              <a:endParaRPr lang="en-US" sz="750" dirty="0"/>
            </a:p>
          </p:txBody>
        </p:sp>
        <p:sp>
          <p:nvSpPr>
            <p:cNvPr id="64" name="Text 61">
              <a:extLst>
                <a:ext uri="{FF2B5EF4-FFF2-40B4-BE49-F238E27FC236}">
                  <a16:creationId xmlns:a16="http://schemas.microsoft.com/office/drawing/2014/main" id="{02F32063-0E85-C1DB-71F3-DECA85E0A5F4}"/>
                </a:ext>
              </a:extLst>
            </p:cNvPr>
            <p:cNvSpPr/>
            <p:nvPr/>
          </p:nvSpPr>
          <p:spPr>
            <a:xfrm>
              <a:off x="5623560" y="4334256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React Hot Toast</a:t>
              </a:r>
              <a:endParaRPr lang="en-US" sz="1100" dirty="0"/>
            </a:p>
          </p:txBody>
        </p:sp>
        <p:sp>
          <p:nvSpPr>
            <p:cNvPr id="65" name="Text 62">
              <a:extLst>
                <a:ext uri="{FF2B5EF4-FFF2-40B4-BE49-F238E27FC236}">
                  <a16:creationId xmlns:a16="http://schemas.microsoft.com/office/drawing/2014/main" id="{7E01C351-5275-14D3-0C16-F1AE35B3C691}"/>
                </a:ext>
              </a:extLst>
            </p:cNvPr>
            <p:cNvSpPr/>
            <p:nvPr/>
          </p:nvSpPr>
          <p:spPr>
            <a:xfrm>
              <a:off x="5623560" y="4608576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Real-time toast notifications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03004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47B62F-187F-400E-F1C4-11E9382DC886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7EBC54-C194-218D-84AE-CE3C641C526B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BACKEND TECHNOLOGIES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A725C4-F32C-37DF-F903-F900DD7CF9B3}"/>
              </a:ext>
            </a:extLst>
          </p:cNvPr>
          <p:cNvSpPr/>
          <p:nvPr/>
        </p:nvSpPr>
        <p:spPr>
          <a:xfrm>
            <a:off x="320040" y="42343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Node.js + Express REST API Architecture</a:t>
            </a:r>
            <a:endParaRPr lang="en-US" sz="26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DF6E5B3-A12F-6A7D-C69D-C70DF625C230}"/>
              </a:ext>
            </a:extLst>
          </p:cNvPr>
          <p:cNvGrpSpPr/>
          <p:nvPr/>
        </p:nvGrpSpPr>
        <p:grpSpPr>
          <a:xfrm>
            <a:off x="388620" y="1002675"/>
            <a:ext cx="8458200" cy="3666744"/>
            <a:chOff x="320040" y="1115568"/>
            <a:chExt cx="8458200" cy="3666744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E61EA4E-C891-3E22-D77E-2F392D5C9BB7}"/>
                </a:ext>
              </a:extLst>
            </p:cNvPr>
            <p:cNvSpPr/>
            <p:nvPr/>
          </p:nvSpPr>
          <p:spPr>
            <a:xfrm>
              <a:off x="320040" y="1143000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CF83E31-2890-AA02-1830-1CB30E1AC122}"/>
                </a:ext>
              </a:extLst>
            </p:cNvPr>
            <p:cNvSpPr/>
            <p:nvPr/>
          </p:nvSpPr>
          <p:spPr>
            <a:xfrm>
              <a:off x="336218" y="1151793"/>
              <a:ext cx="64008" cy="640080"/>
            </a:xfrm>
            <a:prstGeom prst="rect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7AAEA4C3-3D54-A6D9-C176-E37A695FF462}"/>
                </a:ext>
              </a:extLst>
            </p:cNvPr>
            <p:cNvSpPr/>
            <p:nvPr/>
          </p:nvSpPr>
          <p:spPr>
            <a:xfrm>
              <a:off x="576072" y="1367028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0E9F6E">
                <a:alpha val="15000"/>
              </a:srgbClr>
            </a:solidFill>
            <a:ln w="12700">
              <a:solidFill>
                <a:srgbClr val="0E9F6E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73897377-13D0-3DA8-D7B2-5FFDEFF44B6C}"/>
                </a:ext>
              </a:extLst>
            </p:cNvPr>
            <p:cNvSpPr/>
            <p:nvPr/>
          </p:nvSpPr>
          <p:spPr>
            <a:xfrm>
              <a:off x="576072" y="1353312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E9F6E"/>
                  </a:solidFill>
                </a:rPr>
                <a:t>v18+</a:t>
              </a:r>
              <a:endParaRPr lang="en-US" sz="75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327E8F7C-24BC-BFF5-B9E8-F08C4679274E}"/>
                </a:ext>
              </a:extLst>
            </p:cNvPr>
            <p:cNvSpPr/>
            <p:nvPr/>
          </p:nvSpPr>
          <p:spPr>
            <a:xfrm>
              <a:off x="1385316" y="1283728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Node.js</a:t>
              </a:r>
              <a:endParaRPr lang="en-US" sz="11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B0A8F90D-FFF4-CAC7-DDBB-BDDC633A4AED}"/>
                </a:ext>
              </a:extLst>
            </p:cNvPr>
            <p:cNvSpPr/>
            <p:nvPr/>
          </p:nvSpPr>
          <p:spPr>
            <a:xfrm>
              <a:off x="1361300" y="1478715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JavaScript runtime for server-side execution</a:t>
              </a:r>
              <a:endParaRPr lang="en-US" sz="900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0B4DEED4-A058-379F-6443-CE6B66449A73}"/>
                </a:ext>
              </a:extLst>
            </p:cNvPr>
            <p:cNvSpPr/>
            <p:nvPr/>
          </p:nvSpPr>
          <p:spPr>
            <a:xfrm>
              <a:off x="4663440" y="1115568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20B7FE77-5223-2F2E-29AB-32A4BDB07021}"/>
                </a:ext>
              </a:extLst>
            </p:cNvPr>
            <p:cNvSpPr/>
            <p:nvPr/>
          </p:nvSpPr>
          <p:spPr>
            <a:xfrm>
              <a:off x="4664596" y="1115568"/>
              <a:ext cx="64008" cy="640080"/>
            </a:xfrm>
            <a:prstGeom prst="rect">
              <a:avLst/>
            </a:prstGeom>
            <a:solidFill>
              <a:srgbClr val="111928"/>
            </a:solidFill>
            <a:ln w="12700">
              <a:solidFill>
                <a:srgbClr val="11192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E2384BAA-94CF-E6C1-D9A1-9CE4071A97FE}"/>
                </a:ext>
              </a:extLst>
            </p:cNvPr>
            <p:cNvSpPr/>
            <p:nvPr/>
          </p:nvSpPr>
          <p:spPr>
            <a:xfrm>
              <a:off x="4800600" y="1334673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111928">
                <a:alpha val="15000"/>
              </a:srgbClr>
            </a:solidFill>
            <a:ln w="12700">
              <a:solidFill>
                <a:srgbClr val="11192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2E0DE0CF-A191-5699-965C-233B18802063}"/>
                </a:ext>
              </a:extLst>
            </p:cNvPr>
            <p:cNvSpPr/>
            <p:nvPr/>
          </p:nvSpPr>
          <p:spPr>
            <a:xfrm>
              <a:off x="4828032" y="1341555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11928"/>
                  </a:solidFill>
                </a:rPr>
                <a:t>^4.x</a:t>
              </a:r>
              <a:endParaRPr lang="en-US" sz="75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C5EB024-C56F-8378-7C34-E6637D5777C2}"/>
                </a:ext>
              </a:extLst>
            </p:cNvPr>
            <p:cNvSpPr/>
            <p:nvPr/>
          </p:nvSpPr>
          <p:spPr>
            <a:xfrm>
              <a:off x="5641848" y="1249563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Express.js</a:t>
              </a:r>
              <a:endParaRPr lang="en-US" sz="110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F0C3E79F-CCB5-BA81-C4D8-4CA5B2EEFC98}"/>
                </a:ext>
              </a:extLst>
            </p:cNvPr>
            <p:cNvSpPr/>
            <p:nvPr/>
          </p:nvSpPr>
          <p:spPr>
            <a:xfrm>
              <a:off x="5655564" y="1453721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Minimal REST API framework with middleware</a:t>
              </a:r>
              <a:endParaRPr lang="en-US" sz="900" dirty="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D7A6826C-CC45-A981-5F70-515CFEC786C7}"/>
                </a:ext>
              </a:extLst>
            </p:cNvPr>
            <p:cNvSpPr/>
            <p:nvPr/>
          </p:nvSpPr>
          <p:spPr>
            <a:xfrm>
              <a:off x="336218" y="1868190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CC587AF1-8EAE-BDE5-3EFA-9D86DA75FEBD}"/>
                </a:ext>
              </a:extLst>
            </p:cNvPr>
            <p:cNvSpPr/>
            <p:nvPr/>
          </p:nvSpPr>
          <p:spPr>
            <a:xfrm>
              <a:off x="340790" y="1868190"/>
              <a:ext cx="64008" cy="640080"/>
            </a:xfrm>
            <a:prstGeom prst="rect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CB562FE5-C283-9A56-1ED3-42130358D693}"/>
                </a:ext>
              </a:extLst>
            </p:cNvPr>
            <p:cNvSpPr/>
            <p:nvPr/>
          </p:nvSpPr>
          <p:spPr>
            <a:xfrm>
              <a:off x="594360" y="2090460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0E9F6E">
                <a:alpha val="15000"/>
              </a:srgbClr>
            </a:solidFill>
            <a:ln w="12700">
              <a:solidFill>
                <a:srgbClr val="0E9F6E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38B63C91-2A1C-76C6-A6CE-93CDB39EBB50}"/>
                </a:ext>
              </a:extLst>
            </p:cNvPr>
            <p:cNvSpPr/>
            <p:nvPr/>
          </p:nvSpPr>
          <p:spPr>
            <a:xfrm>
              <a:off x="576072" y="2075688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E9F6E"/>
                  </a:solidFill>
                </a:rPr>
                <a:t>Atlas</a:t>
              </a:r>
              <a:endParaRPr lang="en-US" sz="75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E7104EC0-A300-381E-3264-33056FA92E20}"/>
                </a:ext>
              </a:extLst>
            </p:cNvPr>
            <p:cNvSpPr/>
            <p:nvPr/>
          </p:nvSpPr>
          <p:spPr>
            <a:xfrm>
              <a:off x="1384261" y="1990779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MongoDB</a:t>
              </a:r>
              <a:endParaRPr lang="en-US" sz="110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9B7EC241-0404-0530-CABC-376B9C1914B0}"/>
                </a:ext>
              </a:extLst>
            </p:cNvPr>
            <p:cNvSpPr/>
            <p:nvPr/>
          </p:nvSpPr>
          <p:spPr>
            <a:xfrm>
              <a:off x="1369138" y="2201946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NoSQL database for users &amp; websites</a:t>
              </a:r>
              <a:endParaRPr lang="en-US" sz="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2B9D0939-AD6E-B1DA-C9AE-A38099EDCC3F}"/>
                </a:ext>
              </a:extLst>
            </p:cNvPr>
            <p:cNvSpPr/>
            <p:nvPr/>
          </p:nvSpPr>
          <p:spPr>
            <a:xfrm>
              <a:off x="4654296" y="1874520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C49ACCBB-03D4-633A-4532-4D8F387B60BF}"/>
                </a:ext>
              </a:extLst>
            </p:cNvPr>
            <p:cNvSpPr/>
            <p:nvPr/>
          </p:nvSpPr>
          <p:spPr>
            <a:xfrm>
              <a:off x="4654296" y="1881051"/>
              <a:ext cx="64008" cy="640080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27F40191-5427-59AA-C300-DEE1C12844C0}"/>
                </a:ext>
              </a:extLst>
            </p:cNvPr>
            <p:cNvSpPr/>
            <p:nvPr/>
          </p:nvSpPr>
          <p:spPr>
            <a:xfrm>
              <a:off x="4828032" y="2090460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1A56DB">
                <a:alpha val="15000"/>
              </a:srgbClr>
            </a:solidFill>
            <a:ln w="12700">
              <a:solidFill>
                <a:srgbClr val="1A56DB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3911D839-8DAC-CA8C-35D4-1753BDEC5496}"/>
                </a:ext>
              </a:extLst>
            </p:cNvPr>
            <p:cNvSpPr/>
            <p:nvPr/>
          </p:nvSpPr>
          <p:spPr>
            <a:xfrm>
              <a:off x="4825570" y="2083929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1A56DB"/>
                  </a:solidFill>
                </a:rPr>
                <a:t>^8.x</a:t>
              </a:r>
              <a:endParaRPr lang="en-US" sz="75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611A064F-7D2D-F309-5EFE-8E588C0C35F4}"/>
                </a:ext>
              </a:extLst>
            </p:cNvPr>
            <p:cNvSpPr/>
            <p:nvPr/>
          </p:nvSpPr>
          <p:spPr>
            <a:xfrm>
              <a:off x="5602810" y="1993042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Mongoose</a:t>
              </a:r>
              <a:endParaRPr lang="en-US" sz="11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1B429966-95DD-2D8D-8E9F-0D644C3E1000}"/>
                </a:ext>
              </a:extLst>
            </p:cNvPr>
            <p:cNvSpPr/>
            <p:nvPr/>
          </p:nvSpPr>
          <p:spPr>
            <a:xfrm>
              <a:off x="5589094" y="2205010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ODM — User, Website, Message schemas</a:t>
              </a:r>
              <a:endParaRPr lang="en-US" sz="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F5FDE293-D7DC-3BF0-0086-379A61046B81}"/>
                </a:ext>
              </a:extLst>
            </p:cNvPr>
            <p:cNvSpPr/>
            <p:nvPr/>
          </p:nvSpPr>
          <p:spPr>
            <a:xfrm>
              <a:off x="336218" y="2660904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5AEEA672-29E8-8035-BF90-F6B1C6CAA41D}"/>
                </a:ext>
              </a:extLst>
            </p:cNvPr>
            <p:cNvSpPr/>
            <p:nvPr/>
          </p:nvSpPr>
          <p:spPr>
            <a:xfrm>
              <a:off x="336218" y="2660904"/>
              <a:ext cx="64008" cy="64008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A8560FEE-6017-8992-AA30-02456AF82FB3}"/>
                </a:ext>
              </a:extLst>
            </p:cNvPr>
            <p:cNvSpPr/>
            <p:nvPr/>
          </p:nvSpPr>
          <p:spPr>
            <a:xfrm>
              <a:off x="626364" y="2816352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D97706">
                <a:alpha val="15000"/>
              </a:srgbClr>
            </a:solidFill>
            <a:ln w="12700">
              <a:solidFill>
                <a:srgbClr val="D97706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F47ECA5E-0E11-5124-A101-9D90DC11158F}"/>
                </a:ext>
              </a:extLst>
            </p:cNvPr>
            <p:cNvSpPr/>
            <p:nvPr/>
          </p:nvSpPr>
          <p:spPr>
            <a:xfrm>
              <a:off x="612648" y="283464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D97706"/>
                  </a:solidFill>
                </a:rPr>
                <a:t>^9.x</a:t>
              </a:r>
              <a:endParaRPr lang="en-US" sz="75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E4A2DB9B-46CD-D3A2-4CB2-C3713C37DCBC}"/>
                </a:ext>
              </a:extLst>
            </p:cNvPr>
            <p:cNvSpPr/>
            <p:nvPr/>
          </p:nvSpPr>
          <p:spPr>
            <a:xfrm>
              <a:off x="1357884" y="2737321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JWT</a:t>
              </a:r>
              <a:endParaRPr lang="en-US" sz="11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40463DD8-FA09-DE58-0AB7-36988C4F9E62}"/>
                </a:ext>
              </a:extLst>
            </p:cNvPr>
            <p:cNvSpPr/>
            <p:nvPr/>
          </p:nvSpPr>
          <p:spPr>
            <a:xfrm>
              <a:off x="1325880" y="2952858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Stateless token-based authentication</a:t>
              </a:r>
              <a:endParaRPr lang="en-US" sz="900" dirty="0"/>
            </a:p>
          </p:txBody>
        </p:sp>
        <p:sp>
          <p:nvSpPr>
            <p:cNvPr id="35" name="Shape 39">
              <a:extLst>
                <a:ext uri="{FF2B5EF4-FFF2-40B4-BE49-F238E27FC236}">
                  <a16:creationId xmlns:a16="http://schemas.microsoft.com/office/drawing/2014/main" id="{DA12694B-B2A6-768D-E273-70251C415CC5}"/>
                </a:ext>
              </a:extLst>
            </p:cNvPr>
            <p:cNvSpPr/>
            <p:nvPr/>
          </p:nvSpPr>
          <p:spPr>
            <a:xfrm>
              <a:off x="320040" y="3410712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6" name="Shape 40">
              <a:extLst>
                <a:ext uri="{FF2B5EF4-FFF2-40B4-BE49-F238E27FC236}">
                  <a16:creationId xmlns:a16="http://schemas.microsoft.com/office/drawing/2014/main" id="{F46B13F4-A21C-F0F3-1823-882BBC436D99}"/>
                </a:ext>
              </a:extLst>
            </p:cNvPr>
            <p:cNvSpPr/>
            <p:nvPr/>
          </p:nvSpPr>
          <p:spPr>
            <a:xfrm>
              <a:off x="334912" y="3410712"/>
              <a:ext cx="64008" cy="640080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Shape 41">
              <a:extLst>
                <a:ext uri="{FF2B5EF4-FFF2-40B4-BE49-F238E27FC236}">
                  <a16:creationId xmlns:a16="http://schemas.microsoft.com/office/drawing/2014/main" id="{E651C887-9A92-9AB4-B4C2-B14302033654}"/>
                </a:ext>
              </a:extLst>
            </p:cNvPr>
            <p:cNvSpPr/>
            <p:nvPr/>
          </p:nvSpPr>
          <p:spPr>
            <a:xfrm>
              <a:off x="594360" y="3572139"/>
              <a:ext cx="685800" cy="274320"/>
            </a:xfrm>
            <a:prstGeom prst="roundRect">
              <a:avLst>
                <a:gd name="adj" fmla="val 0"/>
              </a:avLst>
            </a:prstGeom>
            <a:solidFill>
              <a:srgbClr val="0891B2">
                <a:alpha val="15000"/>
              </a:srgbClr>
            </a:solidFill>
            <a:ln w="12700">
              <a:solidFill>
                <a:srgbClr val="0891B2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42">
              <a:extLst>
                <a:ext uri="{FF2B5EF4-FFF2-40B4-BE49-F238E27FC236}">
                  <a16:creationId xmlns:a16="http://schemas.microsoft.com/office/drawing/2014/main" id="{9F1261AC-230A-09F3-66A0-77D5AAD0935F}"/>
                </a:ext>
              </a:extLst>
            </p:cNvPr>
            <p:cNvSpPr/>
            <p:nvPr/>
          </p:nvSpPr>
          <p:spPr>
            <a:xfrm>
              <a:off x="603504" y="3557016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891B2"/>
                  </a:solidFill>
                </a:rPr>
                <a:t>^1.x</a:t>
              </a:r>
              <a:endParaRPr lang="en-US" sz="750" dirty="0"/>
            </a:p>
          </p:txBody>
        </p:sp>
        <p:sp>
          <p:nvSpPr>
            <p:cNvPr id="39" name="Text 43">
              <a:extLst>
                <a:ext uri="{FF2B5EF4-FFF2-40B4-BE49-F238E27FC236}">
                  <a16:creationId xmlns:a16="http://schemas.microsoft.com/office/drawing/2014/main" id="{934E857B-1C2E-285F-646E-1BF33E6F42BE}"/>
                </a:ext>
              </a:extLst>
            </p:cNvPr>
            <p:cNvSpPr/>
            <p:nvPr/>
          </p:nvSpPr>
          <p:spPr>
            <a:xfrm>
              <a:off x="1399032" y="3500946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Multer</a:t>
              </a:r>
              <a:endParaRPr lang="en-US" sz="1100" dirty="0"/>
            </a:p>
          </p:txBody>
        </p:sp>
        <p:sp>
          <p:nvSpPr>
            <p:cNvPr id="40" name="Text 44">
              <a:extLst>
                <a:ext uri="{FF2B5EF4-FFF2-40B4-BE49-F238E27FC236}">
                  <a16:creationId xmlns:a16="http://schemas.microsoft.com/office/drawing/2014/main" id="{3A809EB3-E0AF-9AD8-23C2-A9B3E212FD7D}"/>
                </a:ext>
              </a:extLst>
            </p:cNvPr>
            <p:cNvSpPr/>
            <p:nvPr/>
          </p:nvSpPr>
          <p:spPr>
            <a:xfrm>
              <a:off x="1361300" y="3713871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Avatar file upload &amp; validation middleware</a:t>
              </a:r>
              <a:endParaRPr lang="en-US" sz="900" dirty="0"/>
            </a:p>
          </p:txBody>
        </p:sp>
        <p:sp>
          <p:nvSpPr>
            <p:cNvPr id="41" name="Shape 51">
              <a:extLst>
                <a:ext uri="{FF2B5EF4-FFF2-40B4-BE49-F238E27FC236}">
                  <a16:creationId xmlns:a16="http://schemas.microsoft.com/office/drawing/2014/main" id="{B5D39F34-ED9E-6D25-25FD-EC824830ABB0}"/>
                </a:ext>
              </a:extLst>
            </p:cNvPr>
            <p:cNvSpPr/>
            <p:nvPr/>
          </p:nvSpPr>
          <p:spPr>
            <a:xfrm>
              <a:off x="320040" y="4142232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2" name="Shape 52">
              <a:extLst>
                <a:ext uri="{FF2B5EF4-FFF2-40B4-BE49-F238E27FC236}">
                  <a16:creationId xmlns:a16="http://schemas.microsoft.com/office/drawing/2014/main" id="{71E6DB53-CC1E-72A7-342D-4CCF43E6C050}"/>
                </a:ext>
              </a:extLst>
            </p:cNvPr>
            <p:cNvSpPr/>
            <p:nvPr/>
          </p:nvSpPr>
          <p:spPr>
            <a:xfrm>
              <a:off x="324612" y="4142232"/>
              <a:ext cx="64008" cy="640080"/>
            </a:xfrm>
            <a:prstGeom prst="rect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Shape 53">
              <a:extLst>
                <a:ext uri="{FF2B5EF4-FFF2-40B4-BE49-F238E27FC236}">
                  <a16:creationId xmlns:a16="http://schemas.microsoft.com/office/drawing/2014/main" id="{E2A02E65-DD8E-3D06-14E0-26E294A67ADF}"/>
                </a:ext>
              </a:extLst>
            </p:cNvPr>
            <p:cNvSpPr/>
            <p:nvPr/>
          </p:nvSpPr>
          <p:spPr>
            <a:xfrm>
              <a:off x="576072" y="4325112"/>
              <a:ext cx="685800" cy="274320"/>
            </a:xfrm>
            <a:prstGeom prst="roundRect">
              <a:avLst>
                <a:gd name="adj" fmla="val 16667"/>
              </a:avLst>
            </a:prstGeom>
            <a:solidFill>
              <a:srgbClr val="FF5A1F">
                <a:alpha val="15000"/>
              </a:srgbClr>
            </a:solidFill>
            <a:ln w="12700">
              <a:solidFill>
                <a:srgbClr val="FF5A1F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 54">
              <a:extLst>
                <a:ext uri="{FF2B5EF4-FFF2-40B4-BE49-F238E27FC236}">
                  <a16:creationId xmlns:a16="http://schemas.microsoft.com/office/drawing/2014/main" id="{4451401E-DAE3-B7AE-6B9F-C7624E2E0F74}"/>
                </a:ext>
              </a:extLst>
            </p:cNvPr>
            <p:cNvSpPr/>
            <p:nvPr/>
          </p:nvSpPr>
          <p:spPr>
            <a:xfrm>
              <a:off x="583910" y="4306824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FF5A1F"/>
                  </a:solidFill>
                </a:rPr>
                <a:t>SDK</a:t>
              </a:r>
              <a:endParaRPr lang="en-US" sz="750" dirty="0"/>
            </a:p>
          </p:txBody>
        </p:sp>
        <p:sp>
          <p:nvSpPr>
            <p:cNvPr id="45" name="Text 55">
              <a:extLst>
                <a:ext uri="{FF2B5EF4-FFF2-40B4-BE49-F238E27FC236}">
                  <a16:creationId xmlns:a16="http://schemas.microsoft.com/office/drawing/2014/main" id="{DD08530F-F3E0-1B70-50E7-A07EAA1833A4}"/>
                </a:ext>
              </a:extLst>
            </p:cNvPr>
            <p:cNvSpPr/>
            <p:nvPr/>
          </p:nvSpPr>
          <p:spPr>
            <a:xfrm>
              <a:off x="1371600" y="4221363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11928"/>
                  </a:solidFill>
                </a:rPr>
                <a:t>Firebase Admin</a:t>
              </a:r>
              <a:endParaRPr lang="en-US" sz="1100" dirty="0"/>
            </a:p>
          </p:txBody>
        </p:sp>
        <p:sp>
          <p:nvSpPr>
            <p:cNvPr id="46" name="Text 56">
              <a:extLst>
                <a:ext uri="{FF2B5EF4-FFF2-40B4-BE49-F238E27FC236}">
                  <a16:creationId xmlns:a16="http://schemas.microsoft.com/office/drawing/2014/main" id="{60C7E1E0-7372-A4F0-E1A9-8F2FBE246A8D}"/>
                </a:ext>
              </a:extLst>
            </p:cNvPr>
            <p:cNvSpPr/>
            <p:nvPr/>
          </p:nvSpPr>
          <p:spPr>
            <a:xfrm>
              <a:off x="1355925" y="4440819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</a:rPr>
                <a:t>Google OAuth 2.0 server-side verification</a:t>
              </a:r>
              <a:endParaRPr lang="en-US" sz="900" dirty="0"/>
            </a:p>
          </p:txBody>
        </p:sp>
        <p:sp>
          <p:nvSpPr>
            <p:cNvPr id="47" name="Shape 57">
              <a:extLst>
                <a:ext uri="{FF2B5EF4-FFF2-40B4-BE49-F238E27FC236}">
                  <a16:creationId xmlns:a16="http://schemas.microsoft.com/office/drawing/2014/main" id="{F95AD014-643A-538D-E33F-4614C046F554}"/>
                </a:ext>
              </a:extLst>
            </p:cNvPr>
            <p:cNvSpPr/>
            <p:nvPr/>
          </p:nvSpPr>
          <p:spPr>
            <a:xfrm>
              <a:off x="4654296" y="4142232"/>
              <a:ext cx="4114800" cy="6400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Shape 58">
              <a:extLst>
                <a:ext uri="{FF2B5EF4-FFF2-40B4-BE49-F238E27FC236}">
                  <a16:creationId xmlns:a16="http://schemas.microsoft.com/office/drawing/2014/main" id="{27D42BA4-9B71-3AA4-B5AB-A9795DCA97F6}"/>
                </a:ext>
              </a:extLst>
            </p:cNvPr>
            <p:cNvSpPr/>
            <p:nvPr/>
          </p:nvSpPr>
          <p:spPr>
            <a:xfrm>
              <a:off x="4669971" y="4142232"/>
              <a:ext cx="64008" cy="640080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EE61824-5691-EA97-15A8-33DE8CA68A68}"/>
                </a:ext>
              </a:extLst>
            </p:cNvPr>
            <p:cNvGrpSpPr/>
            <p:nvPr/>
          </p:nvGrpSpPr>
          <p:grpSpPr>
            <a:xfrm>
              <a:off x="4663440" y="2639451"/>
              <a:ext cx="4114800" cy="2057400"/>
              <a:chOff x="4663440" y="2779776"/>
              <a:chExt cx="4114800" cy="2057400"/>
            </a:xfrm>
          </p:grpSpPr>
          <p:sp>
            <p:nvSpPr>
              <p:cNvPr id="50" name="Shape 33">
                <a:extLst>
                  <a:ext uri="{FF2B5EF4-FFF2-40B4-BE49-F238E27FC236}">
                    <a16:creationId xmlns:a16="http://schemas.microsoft.com/office/drawing/2014/main" id="{0CA0671C-FAD1-A5E9-D6CF-88BD98ABEB09}"/>
                  </a:ext>
                </a:extLst>
              </p:cNvPr>
              <p:cNvSpPr/>
              <p:nvPr/>
            </p:nvSpPr>
            <p:spPr>
              <a:xfrm>
                <a:off x="4663440" y="2779776"/>
                <a:ext cx="4114800" cy="640080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Shape 34">
                <a:extLst>
                  <a:ext uri="{FF2B5EF4-FFF2-40B4-BE49-F238E27FC236}">
                    <a16:creationId xmlns:a16="http://schemas.microsoft.com/office/drawing/2014/main" id="{C9BD41FD-2A0F-95F9-683F-7874C89E33F8}"/>
                  </a:ext>
                </a:extLst>
              </p:cNvPr>
              <p:cNvSpPr/>
              <p:nvPr/>
            </p:nvSpPr>
            <p:spPr>
              <a:xfrm>
                <a:off x="4663440" y="2779776"/>
                <a:ext cx="64008" cy="640080"/>
              </a:xfrm>
              <a:prstGeom prst="rect">
                <a:avLst/>
              </a:prstGeom>
              <a:solidFill>
                <a:srgbClr val="FF5A1F"/>
              </a:solidFill>
              <a:ln w="12700">
                <a:solidFill>
                  <a:srgbClr val="FF5A1F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2" name="Shape 35">
                <a:extLst>
                  <a:ext uri="{FF2B5EF4-FFF2-40B4-BE49-F238E27FC236}">
                    <a16:creationId xmlns:a16="http://schemas.microsoft.com/office/drawing/2014/main" id="{FD5BC910-1A8F-5BE5-4F33-91F66B021961}"/>
                  </a:ext>
                </a:extLst>
              </p:cNvPr>
              <p:cNvSpPr/>
              <p:nvPr/>
            </p:nvSpPr>
            <p:spPr>
              <a:xfrm>
                <a:off x="4828032" y="2944368"/>
                <a:ext cx="685800" cy="274320"/>
              </a:xfrm>
              <a:prstGeom prst="roundRect">
                <a:avLst>
                  <a:gd name="adj" fmla="val 16667"/>
                </a:avLst>
              </a:prstGeom>
              <a:solidFill>
                <a:srgbClr val="FF5A1F">
                  <a:alpha val="15000"/>
                </a:srgbClr>
              </a:solidFill>
              <a:ln w="12700">
                <a:solidFill>
                  <a:srgbClr val="FF5A1F">
                    <a:alpha val="30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Text 36">
                <a:extLst>
                  <a:ext uri="{FF2B5EF4-FFF2-40B4-BE49-F238E27FC236}">
                    <a16:creationId xmlns:a16="http://schemas.microsoft.com/office/drawing/2014/main" id="{0FD87234-9829-B6FA-45C7-255512DE1C77}"/>
                  </a:ext>
                </a:extLst>
              </p:cNvPr>
              <p:cNvSpPr/>
              <p:nvPr/>
            </p:nvSpPr>
            <p:spPr>
              <a:xfrm>
                <a:off x="4828032" y="2944368"/>
                <a:ext cx="6858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 dirty="0">
                    <a:solidFill>
                      <a:srgbClr val="FF5A1F"/>
                    </a:solidFill>
                  </a:rPr>
                  <a:t>^2.x</a:t>
                </a:r>
                <a:endParaRPr lang="en-US" sz="750" dirty="0"/>
              </a:p>
            </p:txBody>
          </p:sp>
          <p:sp>
            <p:nvSpPr>
              <p:cNvPr id="54" name="Text 37">
                <a:extLst>
                  <a:ext uri="{FF2B5EF4-FFF2-40B4-BE49-F238E27FC236}">
                    <a16:creationId xmlns:a16="http://schemas.microsoft.com/office/drawing/2014/main" id="{C263385A-EBC3-F275-F71F-65D6BBEE834E}"/>
                  </a:ext>
                </a:extLst>
              </p:cNvPr>
              <p:cNvSpPr/>
              <p:nvPr/>
            </p:nvSpPr>
            <p:spPr>
              <a:xfrm>
                <a:off x="5623560" y="2834640"/>
                <a:ext cx="292608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11928"/>
                    </a:solidFill>
                  </a:rPr>
                  <a:t>bcryptjs</a:t>
                </a:r>
                <a:endParaRPr lang="en-US" sz="1100" dirty="0"/>
              </a:p>
            </p:txBody>
          </p:sp>
          <p:sp>
            <p:nvSpPr>
              <p:cNvPr id="55" name="Text 38">
                <a:extLst>
                  <a:ext uri="{FF2B5EF4-FFF2-40B4-BE49-F238E27FC236}">
                    <a16:creationId xmlns:a16="http://schemas.microsoft.com/office/drawing/2014/main" id="{CB47FEB6-0207-FB09-E642-BCEBC6C1E0EC}"/>
                  </a:ext>
                </a:extLst>
              </p:cNvPr>
              <p:cNvSpPr/>
              <p:nvPr/>
            </p:nvSpPr>
            <p:spPr>
              <a:xfrm>
                <a:off x="5623560" y="3108960"/>
                <a:ext cx="292608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6B7280"/>
                    </a:solidFill>
                  </a:rPr>
                  <a:t>Password hashing with salt rounds</a:t>
                </a:r>
                <a:endParaRPr lang="en-US" sz="900" dirty="0"/>
              </a:p>
            </p:txBody>
          </p:sp>
          <p:sp>
            <p:nvSpPr>
              <p:cNvPr id="56" name="Shape 45">
                <a:extLst>
                  <a:ext uri="{FF2B5EF4-FFF2-40B4-BE49-F238E27FC236}">
                    <a16:creationId xmlns:a16="http://schemas.microsoft.com/office/drawing/2014/main" id="{BD77F57F-5C9F-F41D-3984-B0A4EBF63DE1}"/>
                  </a:ext>
                </a:extLst>
              </p:cNvPr>
              <p:cNvSpPr/>
              <p:nvPr/>
            </p:nvSpPr>
            <p:spPr>
              <a:xfrm>
                <a:off x="4663440" y="3529584"/>
                <a:ext cx="4114800" cy="640080"/>
              </a:xfrm>
              <a:prstGeom prst="rect">
                <a:avLst/>
              </a:prstGeom>
              <a:solidFill>
                <a:srgbClr val="FFFFFF"/>
              </a:solidFill>
              <a:ln w="10160">
                <a:solidFill>
                  <a:srgbClr val="E5E7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7" name="Shape 46">
                <a:extLst>
                  <a:ext uri="{FF2B5EF4-FFF2-40B4-BE49-F238E27FC236}">
                    <a16:creationId xmlns:a16="http://schemas.microsoft.com/office/drawing/2014/main" id="{8651477A-F485-B837-4221-6AEB950DC460}"/>
                  </a:ext>
                </a:extLst>
              </p:cNvPr>
              <p:cNvSpPr/>
              <p:nvPr/>
            </p:nvSpPr>
            <p:spPr>
              <a:xfrm>
                <a:off x="4663440" y="3529584"/>
                <a:ext cx="64008" cy="640080"/>
              </a:xfrm>
              <a:prstGeom prst="rect">
                <a:avLst/>
              </a:prstGeom>
              <a:solidFill>
                <a:srgbClr val="7C3AED"/>
              </a:solidFill>
              <a:ln w="12700">
                <a:solidFill>
                  <a:srgbClr val="7C3AED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Shape 47">
                <a:extLst>
                  <a:ext uri="{FF2B5EF4-FFF2-40B4-BE49-F238E27FC236}">
                    <a16:creationId xmlns:a16="http://schemas.microsoft.com/office/drawing/2014/main" id="{990DAC69-5591-85E8-353A-A70E88731D51}"/>
                  </a:ext>
                </a:extLst>
              </p:cNvPr>
              <p:cNvSpPr/>
              <p:nvPr/>
            </p:nvSpPr>
            <p:spPr>
              <a:xfrm>
                <a:off x="4828032" y="3694176"/>
                <a:ext cx="685800" cy="274320"/>
              </a:xfrm>
              <a:prstGeom prst="roundRect">
                <a:avLst>
                  <a:gd name="adj" fmla="val 16667"/>
                </a:avLst>
              </a:prstGeom>
              <a:solidFill>
                <a:srgbClr val="7C3AED">
                  <a:alpha val="15000"/>
                </a:srgbClr>
              </a:solidFill>
              <a:ln w="12700">
                <a:solidFill>
                  <a:srgbClr val="7C3AED">
                    <a:alpha val="30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Text 48">
                <a:extLst>
                  <a:ext uri="{FF2B5EF4-FFF2-40B4-BE49-F238E27FC236}">
                    <a16:creationId xmlns:a16="http://schemas.microsoft.com/office/drawing/2014/main" id="{E9743D4D-FB60-50FB-F4A3-97B7033FAA4A}"/>
                  </a:ext>
                </a:extLst>
              </p:cNvPr>
              <p:cNvSpPr/>
              <p:nvPr/>
            </p:nvSpPr>
            <p:spPr>
              <a:xfrm>
                <a:off x="4828032" y="3694176"/>
                <a:ext cx="6858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 dirty="0">
                    <a:solidFill>
                      <a:srgbClr val="7C3AED"/>
                    </a:solidFill>
                  </a:rPr>
                  <a:t>API</a:t>
                </a:r>
                <a:endParaRPr lang="en-US" sz="750" dirty="0"/>
              </a:p>
            </p:txBody>
          </p:sp>
          <p:sp>
            <p:nvSpPr>
              <p:cNvPr id="60" name="Text 49">
                <a:extLst>
                  <a:ext uri="{FF2B5EF4-FFF2-40B4-BE49-F238E27FC236}">
                    <a16:creationId xmlns:a16="http://schemas.microsoft.com/office/drawing/2014/main" id="{AAB5EB41-E3CF-079C-4AD9-51545F241458}"/>
                  </a:ext>
                </a:extLst>
              </p:cNvPr>
              <p:cNvSpPr/>
              <p:nvPr/>
            </p:nvSpPr>
            <p:spPr>
              <a:xfrm>
                <a:off x="5623560" y="3584448"/>
                <a:ext cx="292608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11928"/>
                    </a:solidFill>
                  </a:rPr>
                  <a:t>OpenRouter</a:t>
                </a:r>
                <a:endParaRPr lang="en-US" sz="1100" dirty="0"/>
              </a:p>
            </p:txBody>
          </p:sp>
          <p:sp>
            <p:nvSpPr>
              <p:cNvPr id="61" name="Text 50">
                <a:extLst>
                  <a:ext uri="{FF2B5EF4-FFF2-40B4-BE49-F238E27FC236}">
                    <a16:creationId xmlns:a16="http://schemas.microsoft.com/office/drawing/2014/main" id="{FB00168C-2A74-FEC3-ECE2-4B401412F74E}"/>
                  </a:ext>
                </a:extLst>
              </p:cNvPr>
              <p:cNvSpPr/>
              <p:nvPr/>
            </p:nvSpPr>
            <p:spPr>
              <a:xfrm>
                <a:off x="5623560" y="3858768"/>
                <a:ext cx="292608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6B7280"/>
                    </a:solidFill>
                  </a:rPr>
                  <a:t>Gateway to DeepSeek AI for website generation</a:t>
                </a:r>
                <a:endParaRPr lang="en-US" sz="900" dirty="0"/>
              </a:p>
            </p:txBody>
          </p:sp>
          <p:sp>
            <p:nvSpPr>
              <p:cNvPr id="62" name="Shape 59">
                <a:extLst>
                  <a:ext uri="{FF2B5EF4-FFF2-40B4-BE49-F238E27FC236}">
                    <a16:creationId xmlns:a16="http://schemas.microsoft.com/office/drawing/2014/main" id="{3ED3E7BA-A3E8-EBF6-308D-A306A1502805}"/>
                  </a:ext>
                </a:extLst>
              </p:cNvPr>
              <p:cNvSpPr/>
              <p:nvPr/>
            </p:nvSpPr>
            <p:spPr>
              <a:xfrm>
                <a:off x="4828032" y="4443984"/>
                <a:ext cx="685800" cy="274320"/>
              </a:xfrm>
              <a:prstGeom prst="roundRect">
                <a:avLst>
                  <a:gd name="adj" fmla="val 16667"/>
                </a:avLst>
              </a:prstGeom>
              <a:solidFill>
                <a:srgbClr val="6B7280">
                  <a:alpha val="15000"/>
                </a:srgbClr>
              </a:solidFill>
              <a:ln w="12700">
                <a:solidFill>
                  <a:srgbClr val="6B7280">
                    <a:alpha val="30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3" name="Text 60">
                <a:extLst>
                  <a:ext uri="{FF2B5EF4-FFF2-40B4-BE49-F238E27FC236}">
                    <a16:creationId xmlns:a16="http://schemas.microsoft.com/office/drawing/2014/main" id="{7E568BC3-C7BF-847F-6607-CBF77D8A6B5B}"/>
                  </a:ext>
                </a:extLst>
              </p:cNvPr>
              <p:cNvSpPr/>
              <p:nvPr/>
            </p:nvSpPr>
            <p:spPr>
              <a:xfrm>
                <a:off x="4828032" y="4443984"/>
                <a:ext cx="6858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 dirty="0">
                    <a:solidFill>
                      <a:srgbClr val="6B7280"/>
                    </a:solidFill>
                  </a:rPr>
                  <a:t>Latest</a:t>
                </a:r>
                <a:endParaRPr lang="en-US" sz="750" dirty="0"/>
              </a:p>
            </p:txBody>
          </p:sp>
          <p:sp>
            <p:nvSpPr>
              <p:cNvPr id="64" name="Text 61">
                <a:extLst>
                  <a:ext uri="{FF2B5EF4-FFF2-40B4-BE49-F238E27FC236}">
                    <a16:creationId xmlns:a16="http://schemas.microsoft.com/office/drawing/2014/main" id="{37023580-E2AB-7147-FE60-035C024486DB}"/>
                  </a:ext>
                </a:extLst>
              </p:cNvPr>
              <p:cNvSpPr/>
              <p:nvPr/>
            </p:nvSpPr>
            <p:spPr>
              <a:xfrm>
                <a:off x="5623560" y="4334256"/>
                <a:ext cx="292608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11928"/>
                    </a:solidFill>
                  </a:rPr>
                  <a:t>dotenv</a:t>
                </a:r>
                <a:endParaRPr lang="en-US" sz="1100" dirty="0"/>
              </a:p>
            </p:txBody>
          </p:sp>
          <p:sp>
            <p:nvSpPr>
              <p:cNvPr id="65" name="Text 62">
                <a:extLst>
                  <a:ext uri="{FF2B5EF4-FFF2-40B4-BE49-F238E27FC236}">
                    <a16:creationId xmlns:a16="http://schemas.microsoft.com/office/drawing/2014/main" id="{7F3403C4-E77A-B92D-DE76-1B9BCF255C99}"/>
                  </a:ext>
                </a:extLst>
              </p:cNvPr>
              <p:cNvSpPr/>
              <p:nvPr/>
            </p:nvSpPr>
            <p:spPr>
              <a:xfrm>
                <a:off x="5623560" y="4608576"/>
                <a:ext cx="292608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6B7280"/>
                    </a:solidFill>
                  </a:rPr>
                  <a:t>Environment variable management &amp; config</a:t>
                </a:r>
                <a:endParaRPr lang="en-US" sz="9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5461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BFEA18-8767-AA5C-7729-FCAF2EEFFC46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BEBF51-17FD-A0B0-F27D-6525B2D833A4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SYSTEM REQUIREMENTS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46299C-2BA8-195A-6AEA-912BE009F1DD}"/>
              </a:ext>
            </a:extLst>
          </p:cNvPr>
          <p:cNvSpPr/>
          <p:nvPr/>
        </p:nvSpPr>
        <p:spPr>
          <a:xfrm>
            <a:off x="320040" y="5486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Hardware &amp; Software Specifications</a:t>
            </a:r>
            <a:endParaRPr lang="en-US" sz="26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29E9279-8501-A03D-5358-343736C8718C}"/>
              </a:ext>
            </a:extLst>
          </p:cNvPr>
          <p:cNvGrpSpPr/>
          <p:nvPr/>
        </p:nvGrpSpPr>
        <p:grpSpPr>
          <a:xfrm>
            <a:off x="411480" y="1252728"/>
            <a:ext cx="8321040" cy="3383280"/>
            <a:chOff x="411480" y="1325880"/>
            <a:chExt cx="8321040" cy="338328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0942ED92-FDE3-4DBC-98AD-B6FA52DC3409}"/>
                </a:ext>
              </a:extLst>
            </p:cNvPr>
            <p:cNvSpPr/>
            <p:nvPr/>
          </p:nvSpPr>
          <p:spPr>
            <a:xfrm>
              <a:off x="411480" y="1325880"/>
              <a:ext cx="4069080" cy="33832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C2B9F2FC-6E60-19A7-5480-B230BBACE9C4}"/>
                </a:ext>
              </a:extLst>
            </p:cNvPr>
            <p:cNvSpPr/>
            <p:nvPr/>
          </p:nvSpPr>
          <p:spPr>
            <a:xfrm>
              <a:off x="411480" y="1325880"/>
              <a:ext cx="4069080" cy="384048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09B895A9-A8D2-3361-D730-D9B642E257DF}"/>
                </a:ext>
              </a:extLst>
            </p:cNvPr>
            <p:cNvSpPr/>
            <p:nvPr/>
          </p:nvSpPr>
          <p:spPr>
            <a:xfrm>
              <a:off x="502920" y="1325880"/>
              <a:ext cx="3886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ymbol"/>
                </a:rPr>
                <a:t>■  HARDWARE REQUIREMENTS</a:t>
              </a:r>
              <a:endParaRPr lang="en-US" sz="1100" dirty="0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5EE1B413-C8E1-298E-26EF-53728312B54E}"/>
                </a:ext>
              </a:extLst>
            </p:cNvPr>
            <p:cNvSpPr/>
            <p:nvPr/>
          </p:nvSpPr>
          <p:spPr>
            <a:xfrm>
              <a:off x="502920" y="1810512"/>
              <a:ext cx="3886200" cy="457200"/>
            </a:xfrm>
            <a:prstGeom prst="rect">
              <a:avLst/>
            </a:prstGeom>
            <a:solidFill>
              <a:srgbClr val="F9FAFB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209EFEF-A337-7205-F3D4-41961CCF08FB}"/>
                </a:ext>
              </a:extLst>
            </p:cNvPr>
            <p:cNvSpPr/>
            <p:nvPr/>
          </p:nvSpPr>
          <p:spPr>
            <a:xfrm>
              <a:off x="594360" y="1883664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A56DB"/>
                  </a:solidFill>
                </a:rPr>
                <a:t>Processor</a:t>
              </a:r>
              <a:endParaRPr lang="en-US" sz="95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12B8F276-52DE-A13F-4A49-F1AEEA20D0EB}"/>
                </a:ext>
              </a:extLst>
            </p:cNvPr>
            <p:cNvSpPr/>
            <p:nvPr/>
          </p:nvSpPr>
          <p:spPr>
            <a:xfrm>
              <a:off x="1737360" y="1883664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Intel Core i3 or higher (i5 recommended)</a:t>
              </a:r>
              <a:endParaRPr lang="en-US" sz="900" dirty="0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C44C36BB-B233-B9BF-6539-86CE33D83EC5}"/>
                </a:ext>
              </a:extLst>
            </p:cNvPr>
            <p:cNvSpPr/>
            <p:nvPr/>
          </p:nvSpPr>
          <p:spPr>
            <a:xfrm>
              <a:off x="502920" y="2340864"/>
              <a:ext cx="38862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3EB13D49-F3F5-BAB5-7B73-F93D3DCB321D}"/>
                </a:ext>
              </a:extLst>
            </p:cNvPr>
            <p:cNvSpPr/>
            <p:nvPr/>
          </p:nvSpPr>
          <p:spPr>
            <a:xfrm>
              <a:off x="594360" y="2414016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A56DB"/>
                  </a:solidFill>
                </a:rPr>
                <a:t>RAM</a:t>
              </a:r>
              <a:endParaRPr lang="en-US" sz="95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1BB75659-6873-D048-55A2-EF979B3ACF4D}"/>
                </a:ext>
              </a:extLst>
            </p:cNvPr>
            <p:cNvSpPr/>
            <p:nvPr/>
          </p:nvSpPr>
          <p:spPr>
            <a:xfrm>
              <a:off x="1737360" y="2414016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Minimum 4 GB (8 GB recommended)</a:t>
              </a:r>
              <a:endParaRPr lang="en-US" sz="90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72F86EC0-D13E-2795-5100-4550D7EB4828}"/>
                </a:ext>
              </a:extLst>
            </p:cNvPr>
            <p:cNvSpPr/>
            <p:nvPr/>
          </p:nvSpPr>
          <p:spPr>
            <a:xfrm>
              <a:off x="502920" y="2871216"/>
              <a:ext cx="3886200" cy="457200"/>
            </a:xfrm>
            <a:prstGeom prst="rect">
              <a:avLst/>
            </a:prstGeom>
            <a:solidFill>
              <a:srgbClr val="F9FAFB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11BA1E86-CFF7-5C6D-B6FD-16066B15C807}"/>
                </a:ext>
              </a:extLst>
            </p:cNvPr>
            <p:cNvSpPr/>
            <p:nvPr/>
          </p:nvSpPr>
          <p:spPr>
            <a:xfrm>
              <a:off x="594360" y="2944368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A56DB"/>
                  </a:solidFill>
                </a:rPr>
                <a:t>Storage</a:t>
              </a:r>
              <a:endParaRPr lang="en-US" sz="95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89C687E6-956E-2301-A4F9-3BA01767A5FB}"/>
                </a:ext>
              </a:extLst>
            </p:cNvPr>
            <p:cNvSpPr/>
            <p:nvPr/>
          </p:nvSpPr>
          <p:spPr>
            <a:xfrm>
              <a:off x="1737360" y="2944368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20 GB free disk space</a:t>
              </a:r>
              <a:endParaRPr lang="en-US" sz="900" dirty="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F151AF0C-F44F-E588-249A-B477AE81C896}"/>
                </a:ext>
              </a:extLst>
            </p:cNvPr>
            <p:cNvSpPr/>
            <p:nvPr/>
          </p:nvSpPr>
          <p:spPr>
            <a:xfrm>
              <a:off x="502920" y="3401568"/>
              <a:ext cx="3886200" cy="4572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27CEE0DA-B02E-EE68-28C4-0741D3ECAA5C}"/>
                </a:ext>
              </a:extLst>
            </p:cNvPr>
            <p:cNvSpPr/>
            <p:nvPr/>
          </p:nvSpPr>
          <p:spPr>
            <a:xfrm>
              <a:off x="594360" y="3474720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A56DB"/>
                  </a:solidFill>
                </a:rPr>
                <a:t>Network</a:t>
              </a:r>
              <a:endParaRPr lang="en-US" sz="9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52A00CD8-D50C-0F5C-D9E1-1FF6964B7DC8}"/>
                </a:ext>
              </a:extLst>
            </p:cNvPr>
            <p:cNvSpPr/>
            <p:nvPr/>
          </p:nvSpPr>
          <p:spPr>
            <a:xfrm>
              <a:off x="1737360" y="3474720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Active internet connection required</a:t>
              </a:r>
              <a:endParaRPr lang="en-US" sz="90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87A33947-65A8-CA70-FA69-60618B14082F}"/>
                </a:ext>
              </a:extLst>
            </p:cNvPr>
            <p:cNvSpPr/>
            <p:nvPr/>
          </p:nvSpPr>
          <p:spPr>
            <a:xfrm>
              <a:off x="502920" y="3931920"/>
              <a:ext cx="3886200" cy="457200"/>
            </a:xfrm>
            <a:prstGeom prst="rect">
              <a:avLst/>
            </a:prstGeom>
            <a:solidFill>
              <a:srgbClr val="F9FAFB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8A5FCBCE-EC6F-3513-5C52-2DAA5073F9A8}"/>
                </a:ext>
              </a:extLst>
            </p:cNvPr>
            <p:cNvSpPr/>
            <p:nvPr/>
          </p:nvSpPr>
          <p:spPr>
            <a:xfrm>
              <a:off x="594360" y="4005072"/>
              <a:ext cx="10972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A56DB"/>
                  </a:solidFill>
                </a:rPr>
                <a:t>Display</a:t>
              </a:r>
              <a:endParaRPr lang="en-US" sz="95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34AF3423-58EE-2DAD-1EF2-C48D309ADA2D}"/>
                </a:ext>
              </a:extLst>
            </p:cNvPr>
            <p:cNvSpPr/>
            <p:nvPr/>
          </p:nvSpPr>
          <p:spPr>
            <a:xfrm>
              <a:off x="1737360" y="4005072"/>
              <a:ext cx="2468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1280×720 minimum resolution</a:t>
              </a:r>
              <a:endParaRPr lang="en-US" sz="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376BBB9B-BFEF-8053-20F2-C3BDBFBA57F8}"/>
                </a:ext>
              </a:extLst>
            </p:cNvPr>
            <p:cNvSpPr/>
            <p:nvPr/>
          </p:nvSpPr>
          <p:spPr>
            <a:xfrm>
              <a:off x="4663440" y="1325880"/>
              <a:ext cx="4069080" cy="338328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B9C068AF-DF56-4A8C-D788-23F7251EEF28}"/>
                </a:ext>
              </a:extLst>
            </p:cNvPr>
            <p:cNvSpPr/>
            <p:nvPr/>
          </p:nvSpPr>
          <p:spPr>
            <a:xfrm>
              <a:off x="4663440" y="1325880"/>
              <a:ext cx="4069080" cy="384048"/>
            </a:xfrm>
            <a:prstGeom prst="rect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69587B9E-090E-7CB8-F652-BA3E6FE7D1C4}"/>
                </a:ext>
              </a:extLst>
            </p:cNvPr>
            <p:cNvSpPr/>
            <p:nvPr/>
          </p:nvSpPr>
          <p:spPr>
            <a:xfrm>
              <a:off x="4754880" y="1325880"/>
              <a:ext cx="38862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 Symbol"/>
                </a:rPr>
                <a:t>●  SOFTWARE REQUIREMENTS</a:t>
              </a:r>
              <a:endParaRPr lang="en-US" sz="11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631847CB-C2EF-B41E-B6F4-2D35681EEAAB}"/>
                </a:ext>
              </a:extLst>
            </p:cNvPr>
            <p:cNvSpPr/>
            <p:nvPr/>
          </p:nvSpPr>
          <p:spPr>
            <a:xfrm>
              <a:off x="4754880" y="1810512"/>
              <a:ext cx="3886200" cy="347472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ED533249-0ADB-E8FC-9C70-4AB71F12A928}"/>
                </a:ext>
              </a:extLst>
            </p:cNvPr>
            <p:cNvSpPr/>
            <p:nvPr/>
          </p:nvSpPr>
          <p:spPr>
            <a:xfrm>
              <a:off x="4846320" y="1865376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9F6E"/>
                  </a:solidFill>
                </a:rPr>
                <a:t>OS</a:t>
              </a:r>
              <a:endParaRPr lang="en-US" sz="9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FD1B88C9-AD17-0C9F-B8B2-E32853BEAB0E}"/>
                </a:ext>
              </a:extLst>
            </p:cNvPr>
            <p:cNvSpPr/>
            <p:nvPr/>
          </p:nvSpPr>
          <p:spPr>
            <a:xfrm>
              <a:off x="5897880" y="1865376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Windows 10/11 · macOS · Linux</a:t>
              </a:r>
              <a:endParaRPr lang="en-US" sz="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72A9688C-6DE3-0A1E-34C6-2890E85E00D4}"/>
                </a:ext>
              </a:extLst>
            </p:cNvPr>
            <p:cNvSpPr/>
            <p:nvPr/>
          </p:nvSpPr>
          <p:spPr>
            <a:xfrm>
              <a:off x="4754880" y="2231136"/>
              <a:ext cx="388620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D45D4BB5-D413-F104-6CD8-95866997A078}"/>
                </a:ext>
              </a:extLst>
            </p:cNvPr>
            <p:cNvSpPr/>
            <p:nvPr/>
          </p:nvSpPr>
          <p:spPr>
            <a:xfrm>
              <a:off x="4846320" y="2286000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9F6E"/>
                  </a:solidFill>
                </a:rPr>
                <a:t>Runtime</a:t>
              </a:r>
              <a:endParaRPr lang="en-US" sz="9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3C42DBAE-2238-C296-EA68-92F512379029}"/>
                </a:ext>
              </a:extLst>
            </p:cNvPr>
            <p:cNvSpPr/>
            <p:nvPr/>
          </p:nvSpPr>
          <p:spPr>
            <a:xfrm>
              <a:off x="5897880" y="2286000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Node.js v18+ (LTS)</a:t>
              </a:r>
              <a:endParaRPr lang="en-US" sz="9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F6A2513A-9540-EC21-5CA6-0342615D9FAB}"/>
                </a:ext>
              </a:extLst>
            </p:cNvPr>
            <p:cNvSpPr/>
            <p:nvPr/>
          </p:nvSpPr>
          <p:spPr>
            <a:xfrm>
              <a:off x="4754880" y="2651760"/>
              <a:ext cx="3886200" cy="347472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ECD5551C-ED9E-20B5-0A44-4678BC72021D}"/>
                </a:ext>
              </a:extLst>
            </p:cNvPr>
            <p:cNvSpPr/>
            <p:nvPr/>
          </p:nvSpPr>
          <p:spPr>
            <a:xfrm>
              <a:off x="4846320" y="2706624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9F6E"/>
                  </a:solidFill>
                </a:rPr>
                <a:t>Database</a:t>
              </a:r>
              <a:endParaRPr lang="en-US" sz="9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01F9121F-DED7-FA64-0350-7DD58F253EA0}"/>
                </a:ext>
              </a:extLst>
            </p:cNvPr>
            <p:cNvSpPr/>
            <p:nvPr/>
          </p:nvSpPr>
          <p:spPr>
            <a:xfrm>
              <a:off x="5897880" y="2706624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MongoDB Atlas (cloud)</a:t>
              </a:r>
              <a:endParaRPr lang="en-US" sz="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C490428B-629A-D43D-4DF5-88415C79F48C}"/>
                </a:ext>
              </a:extLst>
            </p:cNvPr>
            <p:cNvSpPr/>
            <p:nvPr/>
          </p:nvSpPr>
          <p:spPr>
            <a:xfrm>
              <a:off x="4754880" y="3072384"/>
              <a:ext cx="388620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CA38E8AE-D4A1-444E-9184-D841D85ED6E9}"/>
                </a:ext>
              </a:extLst>
            </p:cNvPr>
            <p:cNvSpPr/>
            <p:nvPr/>
          </p:nvSpPr>
          <p:spPr>
            <a:xfrm>
              <a:off x="4846320" y="3127248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9F6E"/>
                  </a:solidFill>
                </a:rPr>
                <a:t>IDE</a:t>
              </a:r>
              <a:endParaRPr lang="en-US" sz="9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BCE5E796-691D-CDE1-102D-47C452011A93}"/>
                </a:ext>
              </a:extLst>
            </p:cNvPr>
            <p:cNvSpPr/>
            <p:nvPr/>
          </p:nvSpPr>
          <p:spPr>
            <a:xfrm>
              <a:off x="5897880" y="3127248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VS Code + ESLint Extension</a:t>
              </a:r>
              <a:endParaRPr lang="en-US" sz="9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D9945088-DF9F-29FE-825E-DE9744BA81F9}"/>
                </a:ext>
              </a:extLst>
            </p:cNvPr>
            <p:cNvSpPr/>
            <p:nvPr/>
          </p:nvSpPr>
          <p:spPr>
            <a:xfrm>
              <a:off x="4754880" y="3493008"/>
              <a:ext cx="3886200" cy="347472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0916A47E-8F69-F735-B537-A05D455629FF}"/>
                </a:ext>
              </a:extLst>
            </p:cNvPr>
            <p:cNvSpPr/>
            <p:nvPr/>
          </p:nvSpPr>
          <p:spPr>
            <a:xfrm>
              <a:off x="4846320" y="3547872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9F6E"/>
                  </a:solidFill>
                </a:rPr>
                <a:t>Browser</a:t>
              </a:r>
              <a:endParaRPr lang="en-US" sz="9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6B3731E4-B909-F5A6-1713-45A447FF105B}"/>
                </a:ext>
              </a:extLst>
            </p:cNvPr>
            <p:cNvSpPr/>
            <p:nvPr/>
          </p:nvSpPr>
          <p:spPr>
            <a:xfrm>
              <a:off x="5897880" y="3547872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Chrome / Edge (latest)</a:t>
              </a:r>
              <a:endParaRPr lang="en-US" sz="900" dirty="0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B8343A52-263B-3794-79E7-F8C905260BA9}"/>
                </a:ext>
              </a:extLst>
            </p:cNvPr>
            <p:cNvSpPr/>
            <p:nvPr/>
          </p:nvSpPr>
          <p:spPr>
            <a:xfrm>
              <a:off x="4754880" y="3913632"/>
              <a:ext cx="3886200" cy="3474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1F7DD25F-A20E-981E-A5FF-EF3416050CB8}"/>
                </a:ext>
              </a:extLst>
            </p:cNvPr>
            <p:cNvSpPr/>
            <p:nvPr/>
          </p:nvSpPr>
          <p:spPr>
            <a:xfrm>
              <a:off x="4846320" y="3968496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9F6E"/>
                  </a:solidFill>
                </a:rPr>
                <a:t>Tools</a:t>
              </a:r>
              <a:endParaRPr lang="en-US" sz="900" dirty="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60C8AE62-0E96-E096-15E8-8A6C73386CE8}"/>
                </a:ext>
              </a:extLst>
            </p:cNvPr>
            <p:cNvSpPr/>
            <p:nvPr/>
          </p:nvSpPr>
          <p:spPr>
            <a:xfrm>
              <a:off x="5897880" y="3968496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Git · GitHub · Postman</a:t>
              </a:r>
              <a:endParaRPr lang="en-US" sz="900" dirty="0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F4976F3A-2E42-5BE5-B0A7-4F6D70304B49}"/>
                </a:ext>
              </a:extLst>
            </p:cNvPr>
            <p:cNvSpPr/>
            <p:nvPr/>
          </p:nvSpPr>
          <p:spPr>
            <a:xfrm>
              <a:off x="4754880" y="4334256"/>
              <a:ext cx="3886200" cy="347472"/>
            </a:xfrm>
            <a:prstGeom prst="rect">
              <a:avLst/>
            </a:prstGeom>
            <a:solidFill>
              <a:srgbClr val="F0FDF4"/>
            </a:solidFill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E00EF5BD-6A13-0278-A8CD-8F54ADB50291}"/>
                </a:ext>
              </a:extLst>
            </p:cNvPr>
            <p:cNvSpPr/>
            <p:nvPr/>
          </p:nvSpPr>
          <p:spPr>
            <a:xfrm>
              <a:off x="4846320" y="4389120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9F6E"/>
                  </a:solidFill>
                </a:rPr>
                <a:t>Services</a:t>
              </a:r>
              <a:endParaRPr lang="en-US" sz="900" dirty="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3934062B-0D7A-C80F-CCFB-D86FE4435D56}"/>
                </a:ext>
              </a:extLst>
            </p:cNvPr>
            <p:cNvSpPr/>
            <p:nvPr/>
          </p:nvSpPr>
          <p:spPr>
            <a:xfrm>
              <a:off x="5897880" y="4389120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74151"/>
                  </a:solidFill>
                </a:rPr>
                <a:t>Firebase Account · OpenRouter API Key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44219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A9CF17-DFEE-493A-DEC2-6CB496DF1F8D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417CE3-09C5-0DD7-99A2-7CAAA60E5A2F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SCREENSHOTS  (1/4)</a:t>
            </a:r>
            <a:endParaRPr lang="en-US" sz="900" dirty="0"/>
          </a:p>
        </p:txBody>
      </p:sp>
      <p:sp>
        <p:nvSpPr>
          <p:cNvPr id="101" name="Title_100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Landing Page &amp; Authentication</a:t>
            </a:r>
            <a:endParaRPr lang="en-US" sz="2600" dirty="0"/>
          </a:p>
        </p:txBody>
      </p:sp>
      <p:sp>
        <p:nvSpPr>
          <p:cNvPr id="110" name="ImgBg_0"/>
          <p:cNvSpPr/>
          <p:nvPr/>
        </p:nvSpPr>
        <p:spPr>
          <a:xfrm>
            <a:off x="411480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1" name="Picture 1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2697480" cy="2240280"/>
          </a:xfrm>
          <a:prstGeom prst="rect">
            <a:avLst/>
          </a:prstGeom>
        </p:spPr>
      </p:pic>
      <p:sp>
        <p:nvSpPr>
          <p:cNvPr id="4" name="LabelBg_0"/>
          <p:cNvSpPr/>
          <p:nvPr/>
        </p:nvSpPr>
        <p:spPr>
          <a:xfrm>
            <a:off x="411480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Bar_0"/>
          <p:cNvSpPr/>
          <p:nvPr/>
        </p:nvSpPr>
        <p:spPr>
          <a:xfrm>
            <a:off x="411480" y="3493008"/>
            <a:ext cx="26974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LabelTitle_0"/>
          <p:cNvSpPr/>
          <p:nvPr/>
        </p:nvSpPr>
        <p:spPr>
          <a:xfrm>
            <a:off x="54864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Home Page</a:t>
            </a:r>
            <a:endParaRPr lang="en-US" sz="1100" dirty="0"/>
          </a:p>
        </p:txBody>
      </p:sp>
      <p:sp>
        <p:nvSpPr>
          <p:cNvPr id="114" name="LabelDesc_0"/>
          <p:cNvSpPr/>
          <p:nvPr/>
        </p:nvSpPr>
        <p:spPr>
          <a:xfrm>
            <a:off x="5486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Hero: 'Build Stunning Websites with AI' + CTA</a:t>
            </a:r>
            <a:endParaRPr lang="en-US" sz="820" dirty="0"/>
          </a:p>
        </p:txBody>
      </p:sp>
      <p:sp>
        <p:nvSpPr>
          <p:cNvPr id="120" name="ImgBg_1"/>
          <p:cNvSpPr/>
          <p:nvPr/>
        </p:nvSpPr>
        <p:spPr>
          <a:xfrm>
            <a:off x="3264408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LabelBg_1"/>
          <p:cNvSpPr/>
          <p:nvPr/>
        </p:nvSpPr>
        <p:spPr>
          <a:xfrm>
            <a:off x="3264408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Bar_1"/>
          <p:cNvSpPr/>
          <p:nvPr/>
        </p:nvSpPr>
        <p:spPr>
          <a:xfrm>
            <a:off x="3264408" y="3493008"/>
            <a:ext cx="2697480" cy="5486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LabelTitle_1"/>
          <p:cNvSpPr/>
          <p:nvPr/>
        </p:nvSpPr>
        <p:spPr>
          <a:xfrm>
            <a:off x="340156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Features Section</a:t>
            </a:r>
            <a:endParaRPr lang="en-US" sz="1100" dirty="0"/>
          </a:p>
        </p:txBody>
      </p:sp>
      <p:sp>
        <p:nvSpPr>
          <p:cNvPr id="124" name="LabelDesc_1"/>
          <p:cNvSpPr/>
          <p:nvPr/>
        </p:nvSpPr>
        <p:spPr>
          <a:xfrm>
            <a:off x="3401568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AI Generated Code · Responsive Layouts · Production Ready</a:t>
            </a:r>
            <a:endParaRPr lang="en-US" sz="820" dirty="0"/>
          </a:p>
        </p:txBody>
      </p:sp>
      <p:sp>
        <p:nvSpPr>
          <p:cNvPr id="130" name="ImgBg_2"/>
          <p:cNvSpPr/>
          <p:nvPr/>
        </p:nvSpPr>
        <p:spPr>
          <a:xfrm>
            <a:off x="6117336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1" name="Picture 130" descr="Screenshot_2026-06-16_0044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1188720"/>
            <a:ext cx="2697480" cy="2240280"/>
          </a:xfrm>
          <a:prstGeom prst="rect">
            <a:avLst/>
          </a:prstGeom>
        </p:spPr>
      </p:pic>
      <p:sp>
        <p:nvSpPr>
          <p:cNvPr id="6" name="LabelBg_2"/>
          <p:cNvSpPr/>
          <p:nvPr/>
        </p:nvSpPr>
        <p:spPr>
          <a:xfrm>
            <a:off x="6117336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Bar_2"/>
          <p:cNvSpPr/>
          <p:nvPr/>
        </p:nvSpPr>
        <p:spPr>
          <a:xfrm>
            <a:off x="6117336" y="3493008"/>
            <a:ext cx="2697480" cy="5486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LabelTitle_2"/>
          <p:cNvSpPr/>
          <p:nvPr/>
        </p:nvSpPr>
        <p:spPr>
          <a:xfrm>
            <a:off x="6254496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Login Modal</a:t>
            </a:r>
            <a:endParaRPr lang="en-US" sz="1100" dirty="0"/>
          </a:p>
        </p:txBody>
      </p:sp>
      <p:sp>
        <p:nvSpPr>
          <p:cNvPr id="134" name="LabelDesc_2"/>
          <p:cNvSpPr/>
          <p:nvPr/>
        </p:nvSpPr>
        <p:spPr>
          <a:xfrm>
            <a:off x="6254496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Email/password + Google OAuth sign-in</a:t>
            </a:r>
            <a:endParaRPr lang="en-US" sz="820" dirty="0"/>
          </a:p>
        </p:txBody>
      </p:sp>
      <p:sp>
        <p:nvSpPr>
          <p:cNvPr id="150" name="Footer"/>
          <p:cNvSpPr/>
          <p:nvPr/>
        </p:nvSpPr>
        <p:spPr>
          <a:xfrm>
            <a:off x="411480" y="43708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WebGen.ai — Home Page · Login · Sign Up · Feature Cards</a:t>
            </a:r>
            <a:endParaRPr lang="en-US" sz="850" dirty="0"/>
          </a:p>
        </p:txBody>
      </p:sp>
      <p:pic>
        <p:nvPicPr>
          <p:cNvPr id="7" name="Picture 6" descr="Screenshot_2026-06-16_204457.png"/>
          <p:cNvPicPr>
            <a:picLocks noChangeAspect="1"/>
          </p:cNvPicPr>
          <p:nvPr/>
        </p:nvPicPr>
        <p:blipFill>
          <a:blip r:embed="rId4"/>
          <a:srcRect t="12303" b="4956"/>
          <a:stretch>
            <a:fillRect/>
          </a:stretch>
        </p:blipFill>
        <p:spPr>
          <a:xfrm>
            <a:off x="3264408" y="1179576"/>
            <a:ext cx="2693169" cy="18340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A9CF17-DFEE-493A-DEC2-6CB496DF1F8D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417CE3-09C5-0DD7-99A2-7CAAA60E5A2F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SCREENSHOTS  (2/4)</a:t>
            </a:r>
            <a:endParaRPr lang="en-US" sz="900" dirty="0"/>
          </a:p>
        </p:txBody>
      </p:sp>
      <p:sp>
        <p:nvSpPr>
          <p:cNvPr id="101" name="Title_100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Sign Up &amp; Website Generator</a:t>
            </a:r>
            <a:endParaRPr lang="en-US" sz="2600" dirty="0"/>
          </a:p>
        </p:txBody>
      </p:sp>
      <p:sp>
        <p:nvSpPr>
          <p:cNvPr id="110" name="ImgBg_0"/>
          <p:cNvSpPr/>
          <p:nvPr/>
        </p:nvSpPr>
        <p:spPr>
          <a:xfrm>
            <a:off x="411480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1" name="Picture 110" descr="Screenshot_2026-06-16_004433.png"/>
          <p:cNvPicPr>
            <a:picLocks noChangeAspect="1"/>
          </p:cNvPicPr>
          <p:nvPr/>
        </p:nvPicPr>
        <p:blipFill>
          <a:blip r:embed="rId2"/>
          <a:srcRect l="10696" t="10418" r="13890" b="2763"/>
          <a:stretch>
            <a:fillRect/>
          </a:stretch>
        </p:blipFill>
        <p:spPr>
          <a:xfrm>
            <a:off x="411480" y="1188720"/>
            <a:ext cx="2697480" cy="2231136"/>
          </a:xfrm>
          <a:prstGeom prst="rect">
            <a:avLst/>
          </a:prstGeom>
        </p:spPr>
      </p:pic>
      <p:sp>
        <p:nvSpPr>
          <p:cNvPr id="4" name="LabelBg_0"/>
          <p:cNvSpPr/>
          <p:nvPr/>
        </p:nvSpPr>
        <p:spPr>
          <a:xfrm>
            <a:off x="411480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Bar_0"/>
          <p:cNvSpPr/>
          <p:nvPr/>
        </p:nvSpPr>
        <p:spPr>
          <a:xfrm>
            <a:off x="411480" y="3493008"/>
            <a:ext cx="2697480" cy="54864"/>
          </a:xfrm>
          <a:prstGeom prst="rect">
            <a:avLst/>
          </a:prstGeom>
          <a:solidFill>
            <a:srgbClr val="7E3AF2"/>
          </a:solidFill>
          <a:ln w="12700">
            <a:solidFill>
              <a:srgbClr val="7E3A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LabelTitle_0"/>
          <p:cNvSpPr/>
          <p:nvPr/>
        </p:nvSpPr>
        <p:spPr>
          <a:xfrm>
            <a:off x="54864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Sign Up Modal</a:t>
            </a:r>
            <a:endParaRPr lang="en-US" sz="1100" dirty="0"/>
          </a:p>
        </p:txBody>
      </p:sp>
      <p:sp>
        <p:nvSpPr>
          <p:cNvPr id="114" name="LabelDesc_0"/>
          <p:cNvSpPr/>
          <p:nvPr/>
        </p:nvSpPr>
        <p:spPr>
          <a:xfrm>
            <a:off x="5486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Create account with Google OAuth or email/password</a:t>
            </a:r>
            <a:endParaRPr lang="en-US" sz="820" dirty="0"/>
          </a:p>
        </p:txBody>
      </p:sp>
      <p:sp>
        <p:nvSpPr>
          <p:cNvPr id="120" name="ImgBg_1"/>
          <p:cNvSpPr/>
          <p:nvPr/>
        </p:nvSpPr>
        <p:spPr>
          <a:xfrm>
            <a:off x="3264408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LabelBg_1"/>
          <p:cNvSpPr/>
          <p:nvPr/>
        </p:nvSpPr>
        <p:spPr>
          <a:xfrm>
            <a:off x="3264408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Bar_1"/>
          <p:cNvSpPr/>
          <p:nvPr/>
        </p:nvSpPr>
        <p:spPr>
          <a:xfrm>
            <a:off x="3264408" y="3493008"/>
            <a:ext cx="26974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LabelTitle_1"/>
          <p:cNvSpPr/>
          <p:nvPr/>
        </p:nvSpPr>
        <p:spPr>
          <a:xfrm>
            <a:off x="340156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Generator Page</a:t>
            </a:r>
            <a:endParaRPr lang="en-US" sz="1100" dirty="0"/>
          </a:p>
        </p:txBody>
      </p:sp>
      <p:sp>
        <p:nvSpPr>
          <p:cNvPr id="124" name="LabelDesc_1"/>
          <p:cNvSpPr/>
          <p:nvPr/>
        </p:nvSpPr>
        <p:spPr>
          <a:xfrm>
            <a:off x="3401568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AI prompt input with sidebar: All Projects · Starred · Published</a:t>
            </a:r>
            <a:endParaRPr lang="en-US" sz="820" dirty="0"/>
          </a:p>
        </p:txBody>
      </p:sp>
      <p:sp>
        <p:nvSpPr>
          <p:cNvPr id="130" name="ImgBg_2"/>
          <p:cNvSpPr/>
          <p:nvPr/>
        </p:nvSpPr>
        <p:spPr>
          <a:xfrm>
            <a:off x="6117336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1" name="Picture 13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17336" y="1188720"/>
            <a:ext cx="2697480" cy="2249424"/>
          </a:xfrm>
          <a:prstGeom prst="rect">
            <a:avLst/>
          </a:prstGeom>
        </p:spPr>
      </p:pic>
      <p:sp>
        <p:nvSpPr>
          <p:cNvPr id="6" name="LabelBg_2"/>
          <p:cNvSpPr/>
          <p:nvPr/>
        </p:nvSpPr>
        <p:spPr>
          <a:xfrm>
            <a:off x="6117336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Bar_2"/>
          <p:cNvSpPr/>
          <p:nvPr/>
        </p:nvSpPr>
        <p:spPr>
          <a:xfrm>
            <a:off x="6117336" y="3493008"/>
            <a:ext cx="2697480" cy="5486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LabelTitle_2"/>
          <p:cNvSpPr/>
          <p:nvPr/>
        </p:nvSpPr>
        <p:spPr>
          <a:xfrm>
            <a:off x="6254496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Profile Dropdown</a:t>
            </a:r>
            <a:endParaRPr lang="en-US" sz="1100" dirty="0"/>
          </a:p>
        </p:txBody>
      </p:sp>
      <p:sp>
        <p:nvSpPr>
          <p:cNvPr id="134" name="LabelDesc_2"/>
          <p:cNvSpPr/>
          <p:nvPr/>
        </p:nvSpPr>
        <p:spPr>
          <a:xfrm>
            <a:off x="6254496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Dashboard · Profile · Edit Profile · Settings · Sign Out</a:t>
            </a:r>
            <a:endParaRPr lang="en-US" sz="820" dirty="0"/>
          </a:p>
        </p:txBody>
      </p:sp>
      <p:sp>
        <p:nvSpPr>
          <p:cNvPr id="150" name="Footer"/>
          <p:cNvSpPr/>
          <p:nvPr/>
        </p:nvSpPr>
        <p:spPr>
          <a:xfrm>
            <a:off x="411480" y="43708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WebGen.ai — Registration · AI Prompt Interface · Project Sidebar</a:t>
            </a:r>
            <a:endParaRPr lang="en-US" sz="850" dirty="0"/>
          </a:p>
        </p:txBody>
      </p:sp>
      <p:pic>
        <p:nvPicPr>
          <p:cNvPr id="7" name="Picture 6" descr="Screenshot_2026-06-16_2044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70433"/>
            <a:ext cx="2697480" cy="22494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A9CF17-DFEE-493A-DEC2-6CB496DF1F8D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417CE3-09C5-0DD7-99A2-7CAAA60E5A2F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SCREENSHOTS  (3/4)</a:t>
            </a:r>
            <a:endParaRPr lang="en-US" sz="900" dirty="0"/>
          </a:p>
        </p:txBody>
      </p:sp>
      <p:sp>
        <p:nvSpPr>
          <p:cNvPr id="101" name="Title_100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Dashboard &amp; Website Editor</a:t>
            </a:r>
            <a:endParaRPr lang="en-US" sz="2600" dirty="0"/>
          </a:p>
        </p:txBody>
      </p:sp>
      <p:sp>
        <p:nvSpPr>
          <p:cNvPr id="110" name="ImgBg_0"/>
          <p:cNvSpPr/>
          <p:nvPr/>
        </p:nvSpPr>
        <p:spPr>
          <a:xfrm>
            <a:off x="411480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LabelBg_0"/>
          <p:cNvSpPr/>
          <p:nvPr/>
        </p:nvSpPr>
        <p:spPr>
          <a:xfrm>
            <a:off x="411480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Bar_0"/>
          <p:cNvSpPr/>
          <p:nvPr/>
        </p:nvSpPr>
        <p:spPr>
          <a:xfrm>
            <a:off x="411480" y="3493008"/>
            <a:ext cx="2697480" cy="5486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LabelTitle_0"/>
          <p:cNvSpPr/>
          <p:nvPr/>
        </p:nvSpPr>
        <p:spPr>
          <a:xfrm>
            <a:off x="54864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User Dashboard</a:t>
            </a:r>
            <a:endParaRPr lang="en-US" sz="1100" dirty="0"/>
          </a:p>
        </p:txBody>
      </p:sp>
      <p:sp>
        <p:nvSpPr>
          <p:cNvPr id="114" name="LabelDesc_0"/>
          <p:cNvSpPr/>
          <p:nvPr/>
        </p:nvSpPr>
        <p:spPr>
          <a:xfrm>
            <a:off x="5486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All websites grid — Deploy · Share Link · Star · Delete</a:t>
            </a:r>
            <a:endParaRPr lang="en-US" sz="820" dirty="0"/>
          </a:p>
        </p:txBody>
      </p:sp>
      <p:sp>
        <p:nvSpPr>
          <p:cNvPr id="120" name="ImgBg_1"/>
          <p:cNvSpPr/>
          <p:nvPr/>
        </p:nvSpPr>
        <p:spPr>
          <a:xfrm>
            <a:off x="3264408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LabelBg_1"/>
          <p:cNvSpPr/>
          <p:nvPr/>
        </p:nvSpPr>
        <p:spPr>
          <a:xfrm>
            <a:off x="3264408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Bar_1"/>
          <p:cNvSpPr/>
          <p:nvPr/>
        </p:nvSpPr>
        <p:spPr>
          <a:xfrm>
            <a:off x="3264408" y="3493008"/>
            <a:ext cx="2697480" cy="54864"/>
          </a:xfrm>
          <a:prstGeom prst="rect">
            <a:avLst/>
          </a:prstGeom>
          <a:solidFill>
            <a:srgbClr val="7E3AF2"/>
          </a:solidFill>
          <a:ln w="12700">
            <a:solidFill>
              <a:srgbClr val="7E3A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LabelTitle_1"/>
          <p:cNvSpPr/>
          <p:nvPr/>
        </p:nvSpPr>
        <p:spPr>
          <a:xfrm>
            <a:off x="340156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Website Editor</a:t>
            </a:r>
            <a:endParaRPr lang="en-US" sz="1100" dirty="0"/>
          </a:p>
        </p:txBody>
      </p:sp>
      <p:sp>
        <p:nvSpPr>
          <p:cNvPr id="124" name="LabelDesc_1"/>
          <p:cNvSpPr/>
          <p:nvPr/>
        </p:nvSpPr>
        <p:spPr>
          <a:xfrm>
            <a:off x="3401568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AI chat panel left · Live iframe preview right · Deploy button</a:t>
            </a:r>
            <a:endParaRPr lang="en-US" sz="820" dirty="0"/>
          </a:p>
        </p:txBody>
      </p:sp>
      <p:sp>
        <p:nvSpPr>
          <p:cNvPr id="130" name="ImgBg_2"/>
          <p:cNvSpPr/>
          <p:nvPr/>
        </p:nvSpPr>
        <p:spPr>
          <a:xfrm>
            <a:off x="6117336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1" name="Picture 130" descr="Screenshot_2026-06-16_005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6" y="1188720"/>
            <a:ext cx="2697480" cy="2240280"/>
          </a:xfrm>
          <a:prstGeom prst="rect">
            <a:avLst/>
          </a:prstGeom>
        </p:spPr>
      </p:pic>
      <p:sp>
        <p:nvSpPr>
          <p:cNvPr id="6" name="LabelBg_2"/>
          <p:cNvSpPr/>
          <p:nvPr/>
        </p:nvSpPr>
        <p:spPr>
          <a:xfrm>
            <a:off x="6117336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Bar_2"/>
          <p:cNvSpPr/>
          <p:nvPr/>
        </p:nvSpPr>
        <p:spPr>
          <a:xfrm>
            <a:off x="6117336" y="3493008"/>
            <a:ext cx="269748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LabelTitle_2"/>
          <p:cNvSpPr/>
          <p:nvPr/>
        </p:nvSpPr>
        <p:spPr>
          <a:xfrm>
            <a:off x="6254496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Edit Profile</a:t>
            </a:r>
            <a:endParaRPr lang="en-US" sz="1100" dirty="0"/>
          </a:p>
        </p:txBody>
      </p:sp>
      <p:sp>
        <p:nvSpPr>
          <p:cNvPr id="134" name="LabelDesc_2"/>
          <p:cNvSpPr/>
          <p:nvPr/>
        </p:nvSpPr>
        <p:spPr>
          <a:xfrm>
            <a:off x="6254496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Update name, username, phone, country, bio &amp; avatar photo</a:t>
            </a:r>
            <a:endParaRPr lang="en-US" sz="820" dirty="0"/>
          </a:p>
        </p:txBody>
      </p:sp>
      <p:sp>
        <p:nvSpPr>
          <p:cNvPr id="150" name="Footer"/>
          <p:cNvSpPr/>
          <p:nvPr/>
        </p:nvSpPr>
        <p:spPr>
          <a:xfrm>
            <a:off x="411480" y="43708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WebGen.ai — Projects Grid · Live Editor · AI Chat Modifications</a:t>
            </a:r>
            <a:endParaRPr lang="en-US" sz="850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9576"/>
            <a:ext cx="2697480" cy="2240280"/>
          </a:xfrm>
          <a:prstGeom prst="rect">
            <a:avLst/>
          </a:prstGeom>
        </p:spPr>
      </p:pic>
      <p:pic>
        <p:nvPicPr>
          <p:cNvPr id="8" name="Picture 7" descr="Screenshot_2026-06-16_004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179576"/>
            <a:ext cx="269748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A9CF17-DFEE-493A-DEC2-6CB496DF1F8D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417CE3-09C5-0DD7-99A2-7CAAA60E5A2F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SCREENSHOTS  (4/4)</a:t>
            </a:r>
            <a:endParaRPr lang="en-US" sz="900" dirty="0"/>
          </a:p>
        </p:txBody>
      </p:sp>
      <p:sp>
        <p:nvSpPr>
          <p:cNvPr id="101" name="Title_100"/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MongoDB Atlas — Database</a:t>
            </a:r>
            <a:endParaRPr lang="en-US" sz="2600" dirty="0"/>
          </a:p>
        </p:txBody>
      </p:sp>
      <p:sp>
        <p:nvSpPr>
          <p:cNvPr id="110" name="ImgBg_0"/>
          <p:cNvSpPr/>
          <p:nvPr/>
        </p:nvSpPr>
        <p:spPr>
          <a:xfrm>
            <a:off x="411480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1" name="Picture 110" descr="Screenshot_2026-06-13_135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2697480" cy="2240280"/>
          </a:xfrm>
          <a:prstGeom prst="rect">
            <a:avLst/>
          </a:prstGeom>
        </p:spPr>
      </p:pic>
      <p:sp>
        <p:nvSpPr>
          <p:cNvPr id="4" name="LabelBg_0"/>
          <p:cNvSpPr/>
          <p:nvPr/>
        </p:nvSpPr>
        <p:spPr>
          <a:xfrm>
            <a:off x="411480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Bar_0"/>
          <p:cNvSpPr/>
          <p:nvPr/>
        </p:nvSpPr>
        <p:spPr>
          <a:xfrm>
            <a:off x="411480" y="3493008"/>
            <a:ext cx="2697480" cy="54864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LabelTitle_0"/>
          <p:cNvSpPr/>
          <p:nvPr/>
        </p:nvSpPr>
        <p:spPr>
          <a:xfrm>
            <a:off x="54864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Users Collection</a:t>
            </a:r>
            <a:endParaRPr lang="en-US" sz="1100" dirty="0"/>
          </a:p>
        </p:txBody>
      </p:sp>
      <p:sp>
        <p:nvSpPr>
          <p:cNvPr id="114" name="LabelDesc_0"/>
          <p:cNvSpPr/>
          <p:nvPr/>
        </p:nvSpPr>
        <p:spPr>
          <a:xfrm>
            <a:off x="548640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MongoDB Atlas: name, email, credits, plan, avatar, socials fields</a:t>
            </a:r>
            <a:endParaRPr lang="en-US" sz="820" dirty="0"/>
          </a:p>
        </p:txBody>
      </p:sp>
      <p:sp>
        <p:nvSpPr>
          <p:cNvPr id="120" name="ImgBg_1"/>
          <p:cNvSpPr/>
          <p:nvPr/>
        </p:nvSpPr>
        <p:spPr>
          <a:xfrm>
            <a:off x="3264408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1" name="Picture 120" descr="Screenshot_2026-06-13_1351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188720"/>
            <a:ext cx="2697480" cy="2240280"/>
          </a:xfrm>
          <a:prstGeom prst="rect">
            <a:avLst/>
          </a:prstGeom>
        </p:spPr>
      </p:pic>
      <p:sp>
        <p:nvSpPr>
          <p:cNvPr id="5" name="LabelBg_1"/>
          <p:cNvSpPr/>
          <p:nvPr/>
        </p:nvSpPr>
        <p:spPr>
          <a:xfrm>
            <a:off x="3264408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Bar_1"/>
          <p:cNvSpPr/>
          <p:nvPr/>
        </p:nvSpPr>
        <p:spPr>
          <a:xfrm>
            <a:off x="3264408" y="3493008"/>
            <a:ext cx="2697480" cy="5486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LabelTitle_1"/>
          <p:cNvSpPr/>
          <p:nvPr/>
        </p:nvSpPr>
        <p:spPr>
          <a:xfrm>
            <a:off x="3401568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Websites — HTML Code</a:t>
            </a:r>
            <a:endParaRPr lang="en-US" sz="1100" dirty="0"/>
          </a:p>
        </p:txBody>
      </p:sp>
      <p:sp>
        <p:nvSpPr>
          <p:cNvPr id="124" name="LabelDesc_1"/>
          <p:cNvSpPr/>
          <p:nvPr/>
        </p:nvSpPr>
        <p:spPr>
          <a:xfrm>
            <a:off x="3401568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latestCode stores full HTML/CSS/JS of each generated website</a:t>
            </a:r>
            <a:endParaRPr lang="en-US" sz="820" dirty="0"/>
          </a:p>
        </p:txBody>
      </p:sp>
      <p:sp>
        <p:nvSpPr>
          <p:cNvPr id="130" name="ImgBg_2"/>
          <p:cNvSpPr/>
          <p:nvPr/>
        </p:nvSpPr>
        <p:spPr>
          <a:xfrm>
            <a:off x="6117336" y="1188720"/>
            <a:ext cx="269748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1" name="Picture 130" descr="Screenshot_2026-06-13_1351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188720"/>
            <a:ext cx="2697480" cy="2240280"/>
          </a:xfrm>
          <a:prstGeom prst="rect">
            <a:avLst/>
          </a:prstGeom>
        </p:spPr>
      </p:pic>
      <p:sp>
        <p:nvSpPr>
          <p:cNvPr id="6" name="LabelBg_2"/>
          <p:cNvSpPr/>
          <p:nvPr/>
        </p:nvSpPr>
        <p:spPr>
          <a:xfrm>
            <a:off x="6117336" y="3493008"/>
            <a:ext cx="269748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Bar_2"/>
          <p:cNvSpPr/>
          <p:nvPr/>
        </p:nvSpPr>
        <p:spPr>
          <a:xfrm>
            <a:off x="6117336" y="3493008"/>
            <a:ext cx="2697480" cy="54864"/>
          </a:xfrm>
          <a:prstGeom prst="rect">
            <a:avLst/>
          </a:prstGeom>
          <a:solidFill>
            <a:srgbClr val="7E3AF2"/>
          </a:solidFill>
          <a:ln w="12700">
            <a:solidFill>
              <a:srgbClr val="7E3AF2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3" name="LabelTitle_2"/>
          <p:cNvSpPr/>
          <p:nvPr/>
        </p:nvSpPr>
        <p:spPr>
          <a:xfrm>
            <a:off x="6254496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928"/>
                </a:solidFill>
              </a:rPr>
              <a:t>Websites Collection</a:t>
            </a:r>
            <a:endParaRPr lang="en-US" sz="1100" dirty="0"/>
          </a:p>
        </p:txBody>
      </p:sp>
      <p:sp>
        <p:nvSpPr>
          <p:cNvPr id="134" name="LabelDesc_2"/>
          <p:cNvSpPr/>
          <p:nvPr/>
        </p:nvSpPr>
        <p:spPr>
          <a:xfrm>
            <a:off x="6254496" y="38587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20" dirty="0">
                <a:solidFill>
                  <a:srgbClr val="6B7280"/>
                </a:solidFill>
              </a:rPr>
              <a:t>user ref, title, deployed, slug, deployUrl, conversation array</a:t>
            </a:r>
            <a:endParaRPr lang="en-US" sz="820" dirty="0"/>
          </a:p>
        </p:txBody>
      </p:sp>
      <p:sp>
        <p:nvSpPr>
          <p:cNvPr id="150" name="Footer"/>
          <p:cNvSpPr/>
          <p:nvPr/>
        </p:nvSpPr>
        <p:spPr>
          <a:xfrm>
            <a:off x="411480" y="43708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</a:rPr>
              <a:t>WebGen.ai — MongoDB Atlas Cloud · Users Collection · Websites Collection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9942D7-A231-150E-153F-AF2740F7EEB6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38CAA9-8607-4738-36F6-158C9CB43997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SECURITY &amp; FEATURES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BC3F96-45B6-97C6-7634-0474C6829C4D}"/>
              </a:ext>
            </a:extLst>
          </p:cNvPr>
          <p:cNvSpPr/>
          <p:nvPr/>
        </p:nvSpPr>
        <p:spPr>
          <a:xfrm>
            <a:off x="320040" y="530352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928"/>
                </a:solidFill>
              </a:rPr>
              <a:t>Enterprise-Grade Security &amp; Standout Capabilities</a:t>
            </a:r>
            <a:endParaRPr lang="en-US" sz="23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5BF96C8-3E26-85D9-30CF-4DD1B5951BDF}"/>
              </a:ext>
            </a:extLst>
          </p:cNvPr>
          <p:cNvGrpSpPr/>
          <p:nvPr/>
        </p:nvGrpSpPr>
        <p:grpSpPr>
          <a:xfrm>
            <a:off x="411480" y="1179576"/>
            <a:ext cx="8366760" cy="3401568"/>
            <a:chOff x="411480" y="1298448"/>
            <a:chExt cx="8366760" cy="3401568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2C94E7B-3AA5-0F96-D0BF-F9DFF133AEB8}"/>
                </a:ext>
              </a:extLst>
            </p:cNvPr>
            <p:cNvSpPr/>
            <p:nvPr/>
          </p:nvSpPr>
          <p:spPr>
            <a:xfrm>
              <a:off x="411480" y="1298448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ECF0EBA-BEAD-349A-843F-5ABC09DFD2F8}"/>
                </a:ext>
              </a:extLst>
            </p:cNvPr>
            <p:cNvSpPr/>
            <p:nvPr/>
          </p:nvSpPr>
          <p:spPr>
            <a:xfrm>
              <a:off x="411480" y="1298448"/>
              <a:ext cx="64008" cy="768096"/>
            </a:xfrm>
            <a:prstGeom prst="rect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05DC173D-5639-16BC-B53F-785B15759F86}"/>
                </a:ext>
              </a:extLst>
            </p:cNvPr>
            <p:cNvSpPr/>
            <p:nvPr/>
          </p:nvSpPr>
          <p:spPr>
            <a:xfrm>
              <a:off x="576072" y="148132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■</a:t>
              </a:r>
              <a:endParaRPr lang="en-US" sz="16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0FA68E2-10A4-CB5B-95D5-09FFA973B647}"/>
                </a:ext>
              </a:extLst>
            </p:cNvPr>
            <p:cNvSpPr/>
            <p:nvPr/>
          </p:nvSpPr>
          <p:spPr>
            <a:xfrm>
              <a:off x="1051560" y="1371600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JWT Authentication</a:t>
              </a:r>
              <a:endParaRPr lang="en-US" sz="105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0A5D5429-C86C-2634-3A63-85A94D88A295}"/>
                </a:ext>
              </a:extLst>
            </p:cNvPr>
            <p:cNvSpPr/>
            <p:nvPr/>
          </p:nvSpPr>
          <p:spPr>
            <a:xfrm>
              <a:off x="1051560" y="1655064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Stateless token-based auth — secure API access verified on every request via isAuth middleware</a:t>
              </a:r>
              <a:endParaRPr lang="en-US" sz="85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313F722-4D8A-9200-2C0D-BE19453CC22B}"/>
                </a:ext>
              </a:extLst>
            </p:cNvPr>
            <p:cNvSpPr/>
            <p:nvPr/>
          </p:nvSpPr>
          <p:spPr>
            <a:xfrm>
              <a:off x="4663440" y="1298448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741DEF9D-7FE6-49CF-2B5C-AF78816169B5}"/>
                </a:ext>
              </a:extLst>
            </p:cNvPr>
            <p:cNvSpPr/>
            <p:nvPr/>
          </p:nvSpPr>
          <p:spPr>
            <a:xfrm>
              <a:off x="4663440" y="1298448"/>
              <a:ext cx="64008" cy="768096"/>
            </a:xfrm>
            <a:prstGeom prst="rect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A3FE862B-E338-FCF1-94C4-065BB4784AEF}"/>
                </a:ext>
              </a:extLst>
            </p:cNvPr>
            <p:cNvSpPr/>
            <p:nvPr/>
          </p:nvSpPr>
          <p:spPr>
            <a:xfrm>
              <a:off x="4828032" y="1481328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▲</a:t>
              </a:r>
              <a:endParaRPr lang="en-US" sz="16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8BB9DEE-07BE-5F3F-5927-6DAB5034C730}"/>
                </a:ext>
              </a:extLst>
            </p:cNvPr>
            <p:cNvSpPr/>
            <p:nvPr/>
          </p:nvSpPr>
          <p:spPr>
            <a:xfrm>
              <a:off x="5303520" y="1371600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Password Encryption</a:t>
              </a:r>
              <a:endParaRPr lang="en-US" sz="105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FF050C14-8C92-98BA-CB8B-B1E8AC893A32}"/>
                </a:ext>
              </a:extLst>
            </p:cNvPr>
            <p:cNvSpPr/>
            <p:nvPr/>
          </p:nvSpPr>
          <p:spPr>
            <a:xfrm>
              <a:off x="5303520" y="1655064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bcryptjs hashing with salt rounds — passwords never stored in plain text in MongoDB</a:t>
              </a:r>
              <a:endParaRPr lang="en-US" sz="85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BD07D1FF-F9EE-0E38-68CA-A52B94B23B53}"/>
                </a:ext>
              </a:extLst>
            </p:cNvPr>
            <p:cNvSpPr/>
            <p:nvPr/>
          </p:nvSpPr>
          <p:spPr>
            <a:xfrm>
              <a:off x="411480" y="2176272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4793308-D155-47B5-22E1-AB7CE3CCAF88}"/>
                </a:ext>
              </a:extLst>
            </p:cNvPr>
            <p:cNvSpPr/>
            <p:nvPr/>
          </p:nvSpPr>
          <p:spPr>
            <a:xfrm>
              <a:off x="411480" y="2176272"/>
              <a:ext cx="64008" cy="768096"/>
            </a:xfrm>
            <a:prstGeom prst="rect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2265D3C5-6C42-B4CA-548E-9060E5185DB5}"/>
                </a:ext>
              </a:extLst>
            </p:cNvPr>
            <p:cNvSpPr/>
            <p:nvPr/>
          </p:nvSpPr>
          <p:spPr>
            <a:xfrm>
              <a:off x="576072" y="235915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◉</a:t>
              </a:r>
              <a:endParaRPr lang="en-US" sz="16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115365CD-DCF7-F42C-5D81-3ACE2BD8B41C}"/>
                </a:ext>
              </a:extLst>
            </p:cNvPr>
            <p:cNvSpPr/>
            <p:nvPr/>
          </p:nvSpPr>
          <p:spPr>
            <a:xfrm>
              <a:off x="1051560" y="2249424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Google OAuth 2.0</a:t>
              </a:r>
              <a:endParaRPr lang="en-US" sz="10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9944C2D4-5937-7134-70EA-912902496694}"/>
                </a:ext>
              </a:extLst>
            </p:cNvPr>
            <p:cNvSpPr/>
            <p:nvPr/>
          </p:nvSpPr>
          <p:spPr>
            <a:xfrm>
              <a:off x="1051560" y="2532888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Firebase-powered Google login with server-side token verification for security</a:t>
              </a:r>
              <a:endParaRPr lang="en-US" sz="85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420916C2-E568-156B-2D30-E478C55CCEDA}"/>
                </a:ext>
              </a:extLst>
            </p:cNvPr>
            <p:cNvSpPr/>
            <p:nvPr/>
          </p:nvSpPr>
          <p:spPr>
            <a:xfrm>
              <a:off x="4663440" y="2176272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55C20EE2-A4ED-0E73-D3CA-73C18B458364}"/>
                </a:ext>
              </a:extLst>
            </p:cNvPr>
            <p:cNvSpPr/>
            <p:nvPr/>
          </p:nvSpPr>
          <p:spPr>
            <a:xfrm>
              <a:off x="4663440" y="2176272"/>
              <a:ext cx="64008" cy="768096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2A0F5BD6-A463-FDE5-5212-2818830F968B}"/>
                </a:ext>
              </a:extLst>
            </p:cNvPr>
            <p:cNvSpPr/>
            <p:nvPr/>
          </p:nvSpPr>
          <p:spPr>
            <a:xfrm>
              <a:off x="4828032" y="2359152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◆</a:t>
              </a:r>
              <a:endParaRPr lang="en-US" sz="160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1865EECD-6BB3-3938-9A53-31D57868343E}"/>
                </a:ext>
              </a:extLst>
            </p:cNvPr>
            <p:cNvSpPr/>
            <p:nvPr/>
          </p:nvSpPr>
          <p:spPr>
            <a:xfrm>
              <a:off x="5303520" y="2249424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Role-Based Access</a:t>
              </a:r>
              <a:endParaRPr lang="en-US" sz="105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94366965-E92E-898A-5392-0B0BDB35BFA2}"/>
                </a:ext>
              </a:extLst>
            </p:cNvPr>
            <p:cNvSpPr/>
            <p:nvPr/>
          </p:nvSpPr>
          <p:spPr>
            <a:xfrm>
              <a:off x="5303520" y="2532888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isAuth middleware guards all protected routes — unauthorized requests rejected immediately</a:t>
              </a:r>
              <a:endParaRPr lang="en-US" sz="850" dirty="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C3B3CE42-CA1C-66A6-8940-95385C5CF578}"/>
                </a:ext>
              </a:extLst>
            </p:cNvPr>
            <p:cNvSpPr/>
            <p:nvPr/>
          </p:nvSpPr>
          <p:spPr>
            <a:xfrm>
              <a:off x="411480" y="3054096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6EDE2EAD-DD31-CE72-8D56-CB69CA72AFA6}"/>
                </a:ext>
              </a:extLst>
            </p:cNvPr>
            <p:cNvSpPr/>
            <p:nvPr/>
          </p:nvSpPr>
          <p:spPr>
            <a:xfrm>
              <a:off x="411480" y="3054096"/>
              <a:ext cx="64008" cy="768096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AF22CBE-3F9A-F20C-6A4A-5107A25BA109}"/>
                </a:ext>
              </a:extLst>
            </p:cNvPr>
            <p:cNvSpPr/>
            <p:nvPr/>
          </p:nvSpPr>
          <p:spPr>
            <a:xfrm>
              <a:off x="576072" y="323697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◈</a:t>
              </a:r>
              <a:endParaRPr lang="en-US" sz="16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7BB3929E-6AE0-6D46-847E-4419B6E71131}"/>
                </a:ext>
              </a:extLst>
            </p:cNvPr>
            <p:cNvSpPr/>
            <p:nvPr/>
          </p:nvSpPr>
          <p:spPr>
            <a:xfrm>
              <a:off x="1051560" y="3127248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OpenRouter LLM Engine</a:t>
              </a:r>
              <a:endParaRPr lang="en-US" sz="105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31FDF1CE-8FE0-B74A-0A48-A6359E5EED44}"/>
                </a:ext>
              </a:extLst>
            </p:cNvPr>
            <p:cNvSpPr/>
            <p:nvPr/>
          </p:nvSpPr>
          <p:spPr>
            <a:xfrm>
              <a:off x="1051560" y="3410712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OpenRouter LLM Engine</a:t>
              </a:r>
              <a:endParaRPr lang="en-US" sz="850" dirty="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A6536DCF-015F-26B6-E857-4C4AC8FEA805}"/>
                </a:ext>
              </a:extLst>
            </p:cNvPr>
            <p:cNvSpPr/>
            <p:nvPr/>
          </p:nvSpPr>
          <p:spPr>
            <a:xfrm>
              <a:off x="4663440" y="3054096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5723C61E-1BB5-B5BD-122A-8CB7C10B6A07}"/>
                </a:ext>
              </a:extLst>
            </p:cNvPr>
            <p:cNvSpPr/>
            <p:nvPr/>
          </p:nvSpPr>
          <p:spPr>
            <a:xfrm>
              <a:off x="4663440" y="3054096"/>
              <a:ext cx="64008" cy="768096"/>
            </a:xfrm>
            <a:prstGeom prst="rect">
              <a:avLst/>
            </a:prstGeom>
            <a:solidFill>
              <a:srgbClr val="111928"/>
            </a:solidFill>
            <a:ln w="12700">
              <a:solidFill>
                <a:srgbClr val="11192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5F8D8EB7-FA20-0DB8-ED98-3D71E19BB7C5}"/>
                </a:ext>
              </a:extLst>
            </p:cNvPr>
            <p:cNvSpPr/>
            <p:nvPr/>
          </p:nvSpPr>
          <p:spPr>
            <a:xfrm>
              <a:off x="4828032" y="3236976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▣</a:t>
              </a:r>
              <a:endParaRPr lang="en-US" sz="160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5BD1A513-D977-A41D-9FB3-1CD4E3D95B4E}"/>
                </a:ext>
              </a:extLst>
            </p:cNvPr>
            <p:cNvSpPr/>
            <p:nvPr/>
          </p:nvSpPr>
          <p:spPr>
            <a:xfrm>
              <a:off x="5303520" y="3127248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Monaco Code Editor</a:t>
              </a:r>
              <a:endParaRPr lang="en-US" sz="105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6A7523F3-9F2B-24AB-45BF-5CE01D4FB683}"/>
                </a:ext>
              </a:extLst>
            </p:cNvPr>
            <p:cNvSpPr/>
            <p:nvPr/>
          </p:nvSpPr>
          <p:spPr>
            <a:xfrm>
              <a:off x="5303520" y="3410712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VS Code-level in-browser editing with syntax highlighting and real-time preview</a:t>
              </a:r>
              <a:endParaRPr lang="en-US" sz="85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FB31566F-322D-1F0E-712F-FDAE3236F095}"/>
                </a:ext>
              </a:extLst>
            </p:cNvPr>
            <p:cNvSpPr/>
            <p:nvPr/>
          </p:nvSpPr>
          <p:spPr>
            <a:xfrm>
              <a:off x="411480" y="3931920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8CD14682-0D0D-AE3A-6123-6CCB09A37EC6}"/>
                </a:ext>
              </a:extLst>
            </p:cNvPr>
            <p:cNvSpPr/>
            <p:nvPr/>
          </p:nvSpPr>
          <p:spPr>
            <a:xfrm>
              <a:off x="411480" y="3931920"/>
              <a:ext cx="64008" cy="768096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E2CC8BF5-08C7-A33C-7182-240FD84A97F6}"/>
                </a:ext>
              </a:extLst>
            </p:cNvPr>
            <p:cNvSpPr/>
            <p:nvPr/>
          </p:nvSpPr>
          <p:spPr>
            <a:xfrm>
              <a:off x="576072" y="4114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▶</a:t>
              </a:r>
              <a:endParaRPr lang="en-US" sz="160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9A218F88-69C9-6F20-BBC2-81A29A58F410}"/>
                </a:ext>
              </a:extLst>
            </p:cNvPr>
            <p:cNvSpPr/>
            <p:nvPr/>
          </p:nvSpPr>
          <p:spPr>
            <a:xfrm>
              <a:off x="1051560" y="4005072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Slug-Based Deployment</a:t>
              </a:r>
              <a:endParaRPr lang="en-US" sz="105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DC17272B-EBFD-636C-D6D3-1E02BC841FAD}"/>
                </a:ext>
              </a:extLst>
            </p:cNvPr>
            <p:cNvSpPr/>
            <p:nvPr/>
          </p:nvSpPr>
          <p:spPr>
            <a:xfrm>
              <a:off x="1051560" y="4288536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Unique public URL per website — /site/:slug renders live HTML via iframe, no auth needed</a:t>
              </a:r>
              <a:endParaRPr lang="en-US" sz="850" dirty="0"/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6ADAC108-8B92-396A-97BB-B3A293D1F89E}"/>
                </a:ext>
              </a:extLst>
            </p:cNvPr>
            <p:cNvSpPr/>
            <p:nvPr/>
          </p:nvSpPr>
          <p:spPr>
            <a:xfrm>
              <a:off x="4663440" y="3931920"/>
              <a:ext cx="4114800" cy="76809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D96CA001-B26B-8743-BAB3-5E277918E72A}"/>
                </a:ext>
              </a:extLst>
            </p:cNvPr>
            <p:cNvSpPr/>
            <p:nvPr/>
          </p:nvSpPr>
          <p:spPr>
            <a:xfrm>
              <a:off x="4663440" y="3931920"/>
              <a:ext cx="64008" cy="768096"/>
            </a:xfrm>
            <a:prstGeom prst="rect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92AC9538-610A-6B5A-9274-3F3F32F0C241}"/>
                </a:ext>
              </a:extLst>
            </p:cNvPr>
            <p:cNvSpPr/>
            <p:nvPr/>
          </p:nvSpPr>
          <p:spPr>
            <a:xfrm>
              <a:off x="4828032" y="4114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000000"/>
                  </a:solidFill>
                  <a:latin typeface="Segoe UI Symbol"/>
                </a:rPr>
                <a:t>◼</a:t>
              </a:r>
              <a:endParaRPr lang="en-US" sz="1600" dirty="0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C2D1159A-1F95-73EC-6E46-A32DD331E253}"/>
                </a:ext>
              </a:extLst>
            </p:cNvPr>
            <p:cNvSpPr/>
            <p:nvPr/>
          </p:nvSpPr>
          <p:spPr>
            <a:xfrm>
              <a:off x="5303520" y="4005072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11928"/>
                  </a:solidFill>
                </a:rPr>
                <a:t>Credit System</a:t>
              </a:r>
              <a:endParaRPr lang="en-US" sz="1050" dirty="0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D74FE574-0E4B-C593-03D3-45D278087215}"/>
                </a:ext>
              </a:extLst>
            </p:cNvPr>
            <p:cNvSpPr/>
            <p:nvPr/>
          </p:nvSpPr>
          <p:spPr>
            <a:xfrm>
              <a:off x="5303520" y="4288536"/>
              <a:ext cx="33375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50" dirty="0">
                  <a:solidFill>
                    <a:srgbClr val="6B7280"/>
                  </a:solidFill>
                </a:rPr>
                <a:t>Each generation costs credits — user balance tracked in MongoDB, prevents abuse</a:t>
              </a:r>
              <a:endParaRPr lang="en-US" sz="850" dirty="0"/>
            </a:p>
          </p:txBody>
        </p:sp>
      </p:grpSp>
    </p:spTree>
    <p:extLst>
      <p:ext uri="{BB962C8B-B14F-4D97-AF65-F5344CB8AC3E}">
        <p14:creationId xmlns:p14="http://schemas.microsoft.com/office/powerpoint/2010/main" val="197924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74505F41-2E1A-95E1-06A6-973E6501A2DB}"/>
              </a:ext>
            </a:extLst>
          </p:cNvPr>
          <p:cNvSpPr/>
          <p:nvPr/>
        </p:nvSpPr>
        <p:spPr>
          <a:xfrm>
            <a:off x="411480" y="5943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/>
              <a:t>Planned Enhancements &amp; Innovation Roadmap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FB151C7-71C8-AF0D-A392-8BFC5A074609}"/>
              </a:ext>
            </a:extLst>
          </p:cNvPr>
          <p:cNvSpPr/>
          <p:nvPr/>
        </p:nvSpPr>
        <p:spPr>
          <a:xfrm>
            <a:off x="411480" y="1371600"/>
            <a:ext cx="274320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6E77F6A-313F-1156-E5F5-63C4E4CD6081}"/>
              </a:ext>
            </a:extLst>
          </p:cNvPr>
          <p:cNvSpPr/>
          <p:nvPr/>
        </p:nvSpPr>
        <p:spPr>
          <a:xfrm>
            <a:off x="57607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Symbol"/>
              </a:rPr>
              <a:t>◉</a:t>
            </a:r>
            <a:endParaRPr lang="en-US" sz="2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0387F3F-BE1F-5C6D-542D-A60B2BAB04D9}"/>
              </a:ext>
            </a:extLst>
          </p:cNvPr>
          <p:cNvSpPr/>
          <p:nvPr/>
        </p:nvSpPr>
        <p:spPr>
          <a:xfrm>
            <a:off x="576072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/>
              <a:t>Multi-Page Generation</a:t>
            </a:r>
            <a:endParaRPr lang="en-US" sz="105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93A2169-935E-5608-66F5-6DD87497B9D7}"/>
              </a:ext>
            </a:extLst>
          </p:cNvPr>
          <p:cNvSpPr/>
          <p:nvPr/>
        </p:nvSpPr>
        <p:spPr>
          <a:xfrm>
            <a:off x="576072" y="22677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>
                    <a:lumMod val="50000"/>
                  </a:schemeClr>
                </a:solidFill>
              </a:rPr>
              <a:t>Generate complete multi-page websites from a single prompt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F09E7B84-7B8A-F8C1-93A5-A28C35037BE8}"/>
              </a:ext>
            </a:extLst>
          </p:cNvPr>
          <p:cNvSpPr/>
          <p:nvPr/>
        </p:nvSpPr>
        <p:spPr>
          <a:xfrm>
            <a:off x="3319272" y="1371600"/>
            <a:ext cx="274320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30229DD-66D7-9287-A251-8A473142EA75}"/>
              </a:ext>
            </a:extLst>
          </p:cNvPr>
          <p:cNvSpPr/>
          <p:nvPr/>
        </p:nvSpPr>
        <p:spPr>
          <a:xfrm>
            <a:off x="348386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Symbol"/>
              </a:rPr>
              <a:t>▶</a:t>
            </a:r>
            <a:endParaRPr lang="en-US" sz="2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3DD178F9-60A4-EFF3-C190-F6A805B2439C}"/>
              </a:ext>
            </a:extLst>
          </p:cNvPr>
          <p:cNvSpPr/>
          <p:nvPr/>
        </p:nvSpPr>
        <p:spPr>
          <a:xfrm>
            <a:off x="3483864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/>
              <a:t>React Native Mobile App</a:t>
            </a:r>
            <a:endParaRPr lang="en-US" sz="105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2A5EE806-6C9B-66B2-35BE-91F6ABBDFC4B}"/>
              </a:ext>
            </a:extLst>
          </p:cNvPr>
          <p:cNvSpPr/>
          <p:nvPr/>
        </p:nvSpPr>
        <p:spPr>
          <a:xfrm>
            <a:off x="3483864" y="22677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>
                    <a:lumMod val="50000"/>
                  </a:schemeClr>
                </a:solidFill>
              </a:rPr>
              <a:t>iOS &amp; Android app for prompt-to-website with camera-based input</a:t>
            </a: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AE07814-F66E-3808-6369-F38170B9CE67}"/>
              </a:ext>
            </a:extLst>
          </p:cNvPr>
          <p:cNvSpPr/>
          <p:nvPr/>
        </p:nvSpPr>
        <p:spPr>
          <a:xfrm>
            <a:off x="6227064" y="1371600"/>
            <a:ext cx="274320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E466390D-4DAA-8777-BDC4-EA32B6C269F5}"/>
              </a:ext>
            </a:extLst>
          </p:cNvPr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Symbol"/>
              </a:rPr>
              <a:t>◉</a:t>
            </a:r>
            <a:endParaRPr lang="en-US" sz="2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C9224ED-A9E3-400F-C42A-7319E65F2FB6}"/>
              </a:ext>
            </a:extLst>
          </p:cNvPr>
          <p:cNvSpPr/>
          <p:nvPr/>
        </p:nvSpPr>
        <p:spPr>
          <a:xfrm>
            <a:off x="6391656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/>
              <a:t>Custom Domain Connect</a:t>
            </a:r>
            <a:endParaRPr lang="en-US" sz="105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74500B8-B38A-38E9-7ABF-54592D747CA2}"/>
              </a:ext>
            </a:extLst>
          </p:cNvPr>
          <p:cNvSpPr/>
          <p:nvPr/>
        </p:nvSpPr>
        <p:spPr>
          <a:xfrm>
            <a:off x="6391656" y="22677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>
                    <a:lumMod val="50000"/>
                  </a:schemeClr>
                </a:solidFill>
              </a:rPr>
              <a:t>Allow users to connect their own domain names to deployed websites</a:t>
            </a: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7D4F26D8-23C0-E8E3-9A17-F5E4154AFF9F}"/>
              </a:ext>
            </a:extLst>
          </p:cNvPr>
          <p:cNvSpPr/>
          <p:nvPr/>
        </p:nvSpPr>
        <p:spPr>
          <a:xfrm>
            <a:off x="411480" y="2971800"/>
            <a:ext cx="274320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6F02964F-F9B3-7A2E-61AA-3A2E1FBC9954}"/>
              </a:ext>
            </a:extLst>
          </p:cNvPr>
          <p:cNvSpPr/>
          <p:nvPr/>
        </p:nvSpPr>
        <p:spPr>
          <a:xfrm>
            <a:off x="576072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Symbol"/>
              </a:rPr>
              <a:t>◈</a:t>
            </a:r>
            <a:endParaRPr lang="en-US" sz="2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AC11C859-91E7-4DE6-BD79-15FFCB8A23F8}"/>
              </a:ext>
            </a:extLst>
          </p:cNvPr>
          <p:cNvSpPr/>
          <p:nvPr/>
        </p:nvSpPr>
        <p:spPr>
          <a:xfrm>
            <a:off x="576072" y="3566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/>
              <a:t>AI Template Marketplace</a:t>
            </a:r>
            <a:endParaRPr lang="en-US" sz="105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D338160-D35E-F36E-396A-1D3130C4996B}"/>
              </a:ext>
            </a:extLst>
          </p:cNvPr>
          <p:cNvSpPr/>
          <p:nvPr/>
        </p:nvSpPr>
        <p:spPr>
          <a:xfrm>
            <a:off x="576072" y="38679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>
                    <a:lumMod val="50000"/>
                  </a:schemeClr>
                </a:solidFill>
              </a:rPr>
              <a:t>Community-shared prompt templates and website themes to browse &amp; remix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0896FE50-820C-0440-66CD-9697E709C1B7}"/>
              </a:ext>
            </a:extLst>
          </p:cNvPr>
          <p:cNvSpPr/>
          <p:nvPr/>
        </p:nvSpPr>
        <p:spPr>
          <a:xfrm>
            <a:off x="3319272" y="2971800"/>
            <a:ext cx="274320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EF617B60-BF64-C011-4377-A639AB9814AA}"/>
              </a:ext>
            </a:extLst>
          </p:cNvPr>
          <p:cNvSpPr/>
          <p:nvPr/>
        </p:nvSpPr>
        <p:spPr>
          <a:xfrm>
            <a:off x="3483864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Symbol"/>
              </a:rPr>
              <a:t>◆</a:t>
            </a:r>
            <a:endParaRPr lang="en-US" sz="2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8DD8C4AE-2694-F42A-94DF-2AF94FBF90BB}"/>
              </a:ext>
            </a:extLst>
          </p:cNvPr>
          <p:cNvSpPr/>
          <p:nvPr/>
        </p:nvSpPr>
        <p:spPr>
          <a:xfrm>
            <a:off x="3483864" y="3566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/>
              <a:t>Real-Time Collaboration</a:t>
            </a:r>
            <a:endParaRPr lang="en-US" sz="105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8CEF0CE2-1509-E4AB-13E1-7CEAA7C12D2F}"/>
              </a:ext>
            </a:extLst>
          </p:cNvPr>
          <p:cNvSpPr/>
          <p:nvPr/>
        </p:nvSpPr>
        <p:spPr>
          <a:xfrm>
            <a:off x="3483864" y="38679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>
                    <a:lumMod val="50000"/>
                  </a:schemeClr>
                </a:solidFill>
              </a:rPr>
              <a:t>Multi-user editing with live cursors — like Figma for AI websites</a:t>
            </a: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E2A73C71-26C2-7639-29AB-6473B181BCE4}"/>
              </a:ext>
            </a:extLst>
          </p:cNvPr>
          <p:cNvSpPr/>
          <p:nvPr/>
        </p:nvSpPr>
        <p:spPr>
          <a:xfrm>
            <a:off x="6227064" y="2971800"/>
            <a:ext cx="274320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E3B73562-81AE-927C-2564-91041232B68E}"/>
              </a:ext>
            </a:extLst>
          </p:cNvPr>
          <p:cNvSpPr/>
          <p:nvPr/>
        </p:nvSpPr>
        <p:spPr>
          <a:xfrm>
            <a:off x="6391656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Symbol"/>
              </a:rPr>
              <a:t>★</a:t>
            </a:r>
            <a:endParaRPr lang="en-US" sz="22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2FD4B6E-2B19-7262-2155-E7D86036AE7D}"/>
              </a:ext>
            </a:extLst>
          </p:cNvPr>
          <p:cNvSpPr/>
          <p:nvPr/>
        </p:nvSpPr>
        <p:spPr>
          <a:xfrm>
            <a:off x="6391656" y="35661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/>
              <a:t>Voice Prompt Support</a:t>
            </a:r>
            <a:endParaRPr lang="en-US" sz="105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22C33C8B-A349-F1EB-7F02-39183FF7E02A}"/>
              </a:ext>
            </a:extLst>
          </p:cNvPr>
          <p:cNvSpPr/>
          <p:nvPr/>
        </p:nvSpPr>
        <p:spPr>
          <a:xfrm>
            <a:off x="6391656" y="38679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>
                    <a:lumMod val="50000"/>
                  </a:schemeClr>
                </a:solidFill>
              </a:rPr>
              <a:t>Speech-to-text input for hands-free website generation</a:t>
            </a:r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0A83CF62-3FAB-A372-E5F4-C6E4E08A5C1F}"/>
              </a:ext>
            </a:extLst>
          </p:cNvPr>
          <p:cNvSpPr/>
          <p:nvPr/>
        </p:nvSpPr>
        <p:spPr>
          <a:xfrm>
            <a:off x="457200" y="210312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r>
              <a:rPr lang="en-US" sz="1100" b="1" dirty="0">
                <a:solidFill>
                  <a:schemeClr val="bg1"/>
                </a:solidFill>
              </a:rPr>
              <a:t>✦  FUTURE SCOPE</a:t>
            </a:r>
            <a:endParaRPr lang="en-US" sz="11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397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EF002A-43A5-F4EE-B0AC-E9FF9382626F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19E4E2-F814-FB60-F5BD-9EA62AC89F7A}"/>
              </a:ext>
            </a:extLst>
          </p:cNvPr>
          <p:cNvSpPr/>
          <p:nvPr/>
        </p:nvSpPr>
        <p:spPr>
          <a:xfrm>
            <a:off x="41148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✦  REFERENCES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8DFD37-45C9-3CA7-8F52-11D33BD7ACE6}"/>
              </a:ext>
            </a:extLst>
          </p:cNvPr>
          <p:cNvSpPr/>
          <p:nvPr/>
        </p:nvSpPr>
        <p:spPr>
          <a:xfrm>
            <a:off x="320040" y="47091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928"/>
                </a:solidFill>
              </a:rPr>
              <a:t>Technical Resources &amp; Documentation</a:t>
            </a:r>
            <a:endParaRPr lang="en-US" sz="2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F51571-F8E1-C6A9-D788-4ADE42C0D01B}"/>
              </a:ext>
            </a:extLst>
          </p:cNvPr>
          <p:cNvGrpSpPr/>
          <p:nvPr/>
        </p:nvGrpSpPr>
        <p:grpSpPr>
          <a:xfrm>
            <a:off x="411480" y="988205"/>
            <a:ext cx="8366760" cy="3685032"/>
            <a:chOff x="411480" y="1298448"/>
            <a:chExt cx="8366760" cy="3685032"/>
          </a:xfrm>
        </p:grpSpPr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6BF1C1A2-3B0B-BF9D-11BE-BADF9203954B}"/>
                </a:ext>
              </a:extLst>
            </p:cNvPr>
            <p:cNvSpPr/>
            <p:nvPr/>
          </p:nvSpPr>
          <p:spPr>
            <a:xfrm>
              <a:off x="411480" y="1298448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1C825403-E3B3-C997-C8F0-1DE912D374EB}"/>
                </a:ext>
              </a:extLst>
            </p:cNvPr>
            <p:cNvSpPr/>
            <p:nvPr/>
          </p:nvSpPr>
          <p:spPr>
            <a:xfrm>
              <a:off x="521208" y="1389888"/>
              <a:ext cx="384048" cy="384048"/>
            </a:xfrm>
            <a:prstGeom prst="ellipse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5ABA8FC7-FEB0-37A7-1F13-424BDDAD54CD}"/>
                </a:ext>
              </a:extLst>
            </p:cNvPr>
            <p:cNvSpPr/>
            <p:nvPr/>
          </p:nvSpPr>
          <p:spPr>
            <a:xfrm>
              <a:off x="521208" y="138988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01</a:t>
              </a:r>
              <a:endParaRPr lang="en-US" sz="120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9BCE7352-CF72-BD2E-B77D-C5A30F9F4AFF}"/>
                </a:ext>
              </a:extLst>
            </p:cNvPr>
            <p:cNvSpPr/>
            <p:nvPr/>
          </p:nvSpPr>
          <p:spPr>
            <a:xfrm>
              <a:off x="1051560" y="1335024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React.js Official Documentation</a:t>
              </a:r>
              <a:endParaRPr lang="en-US" sz="10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D8FDFED0-632B-8451-A064-E98432918E40}"/>
                </a:ext>
              </a:extLst>
            </p:cNvPr>
            <p:cNvSpPr/>
            <p:nvPr/>
          </p:nvSpPr>
          <p:spPr>
            <a:xfrm>
              <a:off x="1051560" y="1591056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https://react.dev</a:t>
              </a:r>
              <a:endParaRPr lang="en-US" sz="850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D80FD2FE-2BA3-0F54-FC94-34470C7BE847}"/>
                </a:ext>
              </a:extLst>
            </p:cNvPr>
            <p:cNvSpPr/>
            <p:nvPr/>
          </p:nvSpPr>
          <p:spPr>
            <a:xfrm>
              <a:off x="4663440" y="1298448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069B3C8B-6884-FE35-7B52-5D285C1F8542}"/>
                </a:ext>
              </a:extLst>
            </p:cNvPr>
            <p:cNvSpPr/>
            <p:nvPr/>
          </p:nvSpPr>
          <p:spPr>
            <a:xfrm>
              <a:off x="4773168" y="1389888"/>
              <a:ext cx="384048" cy="384048"/>
            </a:xfrm>
            <a:prstGeom prst="ellipse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0F6CB8A4-9BC2-6833-1A1D-AC880A662F69}"/>
                </a:ext>
              </a:extLst>
            </p:cNvPr>
            <p:cNvSpPr/>
            <p:nvPr/>
          </p:nvSpPr>
          <p:spPr>
            <a:xfrm>
              <a:off x="4773168" y="138988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02</a:t>
              </a:r>
              <a:endParaRPr lang="en-US" sz="120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41413A0F-907E-0CC0-75B4-826732E13607}"/>
                </a:ext>
              </a:extLst>
            </p:cNvPr>
            <p:cNvSpPr/>
            <p:nvPr/>
          </p:nvSpPr>
          <p:spPr>
            <a:xfrm>
              <a:off x="5303520" y="1335024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Vite Build Tool Documentation</a:t>
              </a:r>
              <a:endParaRPr lang="en-US" sz="100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0AF82B1F-6641-DBBB-8B3B-8AA2DFCB0210}"/>
                </a:ext>
              </a:extLst>
            </p:cNvPr>
            <p:cNvSpPr/>
            <p:nvPr/>
          </p:nvSpPr>
          <p:spPr>
            <a:xfrm>
              <a:off x="5303520" y="1591056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https://vitejs.dev</a:t>
              </a:r>
              <a:endParaRPr lang="en-US" sz="850" dirty="0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FEFD7078-1ADE-8D7E-2C2F-1E05B19F11CB}"/>
                </a:ext>
              </a:extLst>
            </p:cNvPr>
            <p:cNvSpPr/>
            <p:nvPr/>
          </p:nvSpPr>
          <p:spPr>
            <a:xfrm>
              <a:off x="411480" y="1965960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8AF15300-E54E-9018-6A24-E5C144EADCD3}"/>
                </a:ext>
              </a:extLst>
            </p:cNvPr>
            <p:cNvSpPr/>
            <p:nvPr/>
          </p:nvSpPr>
          <p:spPr>
            <a:xfrm>
              <a:off x="521208" y="2057400"/>
              <a:ext cx="384048" cy="384048"/>
            </a:xfrm>
            <a:prstGeom prst="ellipse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FFD3C1B9-45AB-E158-44F5-FC246759E2DE}"/>
                </a:ext>
              </a:extLst>
            </p:cNvPr>
            <p:cNvSpPr/>
            <p:nvPr/>
          </p:nvSpPr>
          <p:spPr>
            <a:xfrm>
              <a:off x="521208" y="205740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03</a:t>
              </a:r>
              <a:endParaRPr lang="en-US" sz="12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08478840-551E-4F4C-2C40-2D382D1392B5}"/>
                </a:ext>
              </a:extLst>
            </p:cNvPr>
            <p:cNvSpPr/>
            <p:nvPr/>
          </p:nvSpPr>
          <p:spPr>
            <a:xfrm>
              <a:off x="1051560" y="2002536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MongoDB Documentation</a:t>
              </a:r>
              <a:endParaRPr lang="en-US" sz="1000" dirty="0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170CCB1E-E89D-63BA-B67F-2C9CAFB10348}"/>
                </a:ext>
              </a:extLst>
            </p:cNvPr>
            <p:cNvSpPr/>
            <p:nvPr/>
          </p:nvSpPr>
          <p:spPr>
            <a:xfrm>
              <a:off x="1051560" y="2258568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https://www.mongodb.com/docs</a:t>
              </a:r>
              <a:endParaRPr lang="en-US" sz="850" dirty="0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D47E45E8-9D5A-ED05-152C-F8012FC94782}"/>
                </a:ext>
              </a:extLst>
            </p:cNvPr>
            <p:cNvSpPr/>
            <p:nvPr/>
          </p:nvSpPr>
          <p:spPr>
            <a:xfrm>
              <a:off x="4663440" y="1965960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63F0901B-FDEC-166E-9C5F-11685787B6E2}"/>
                </a:ext>
              </a:extLst>
            </p:cNvPr>
            <p:cNvSpPr/>
            <p:nvPr/>
          </p:nvSpPr>
          <p:spPr>
            <a:xfrm>
              <a:off x="4773168" y="2057400"/>
              <a:ext cx="384048" cy="384048"/>
            </a:xfrm>
            <a:prstGeom prst="ellipse">
              <a:avLst/>
            </a:prstGeom>
            <a:solidFill>
              <a:srgbClr val="111928"/>
            </a:solidFill>
            <a:ln w="12700">
              <a:solidFill>
                <a:srgbClr val="11192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005AE2F8-55F0-7FFE-81D4-B8F15271283D}"/>
                </a:ext>
              </a:extLst>
            </p:cNvPr>
            <p:cNvSpPr/>
            <p:nvPr/>
          </p:nvSpPr>
          <p:spPr>
            <a:xfrm>
              <a:off x="4773168" y="205740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04</a:t>
              </a:r>
              <a:endParaRPr lang="en-US" sz="1200" dirty="0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AC1525E0-C6FE-A185-D07A-6A639B31A441}"/>
                </a:ext>
              </a:extLst>
            </p:cNvPr>
            <p:cNvSpPr/>
            <p:nvPr/>
          </p:nvSpPr>
          <p:spPr>
            <a:xfrm>
              <a:off x="5303520" y="2002536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Express.js Guide</a:t>
              </a:r>
              <a:endParaRPr lang="en-US" sz="1000" dirty="0"/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D8A7C958-5954-535C-693C-F8327CC7CF24}"/>
                </a:ext>
              </a:extLst>
            </p:cNvPr>
            <p:cNvSpPr/>
            <p:nvPr/>
          </p:nvSpPr>
          <p:spPr>
            <a:xfrm>
              <a:off x="5303520" y="2258568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https://expressjs.com</a:t>
              </a:r>
              <a:endParaRPr lang="en-US" sz="850" dirty="0"/>
            </a:p>
          </p:txBody>
        </p:sp>
        <p:sp>
          <p:nvSpPr>
            <p:cNvPr id="26" name="Shape 23">
              <a:extLst>
                <a:ext uri="{FF2B5EF4-FFF2-40B4-BE49-F238E27FC236}">
                  <a16:creationId xmlns:a16="http://schemas.microsoft.com/office/drawing/2014/main" id="{14CD1AE3-C123-C6A5-5950-D0EA5DD6E779}"/>
                </a:ext>
              </a:extLst>
            </p:cNvPr>
            <p:cNvSpPr/>
            <p:nvPr/>
          </p:nvSpPr>
          <p:spPr>
            <a:xfrm>
              <a:off x="411480" y="2633472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Shape 24">
              <a:extLst>
                <a:ext uri="{FF2B5EF4-FFF2-40B4-BE49-F238E27FC236}">
                  <a16:creationId xmlns:a16="http://schemas.microsoft.com/office/drawing/2014/main" id="{BD844A04-34BB-DF0E-4061-7CD655361300}"/>
                </a:ext>
              </a:extLst>
            </p:cNvPr>
            <p:cNvSpPr/>
            <p:nvPr/>
          </p:nvSpPr>
          <p:spPr>
            <a:xfrm>
              <a:off x="521208" y="2724912"/>
              <a:ext cx="384048" cy="384048"/>
            </a:xfrm>
            <a:prstGeom prst="ellipse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8966DE84-2CDA-2918-7A96-D5E6EE584CB2}"/>
                </a:ext>
              </a:extLst>
            </p:cNvPr>
            <p:cNvSpPr/>
            <p:nvPr/>
          </p:nvSpPr>
          <p:spPr>
            <a:xfrm>
              <a:off x="521208" y="272491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05</a:t>
              </a:r>
              <a:endParaRPr lang="en-US" sz="120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A5F691EB-6A0F-F203-0FF4-322DECE4718D}"/>
                </a:ext>
              </a:extLst>
            </p:cNvPr>
            <p:cNvSpPr/>
            <p:nvPr/>
          </p:nvSpPr>
          <p:spPr>
            <a:xfrm>
              <a:off x="1051560" y="2670048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OpenRouter API (DeepSeek)</a:t>
              </a:r>
              <a:endParaRPr lang="en-US" sz="1000" dirty="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74F2AD7B-FE0B-33E9-4B58-FEBD489E17CB}"/>
                </a:ext>
              </a:extLst>
            </p:cNvPr>
            <p:cNvSpPr/>
            <p:nvPr/>
          </p:nvSpPr>
          <p:spPr>
            <a:xfrm>
              <a:off x="1051560" y="2926080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https://openrouter.ai</a:t>
              </a:r>
              <a:endParaRPr lang="en-US" sz="850" dirty="0"/>
            </a:p>
          </p:txBody>
        </p:sp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E357BC6C-E4E8-EE52-A642-37DC7C81C9DA}"/>
                </a:ext>
              </a:extLst>
            </p:cNvPr>
            <p:cNvSpPr/>
            <p:nvPr/>
          </p:nvSpPr>
          <p:spPr>
            <a:xfrm>
              <a:off x="4663440" y="2633472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6642D725-38E8-93C1-290F-038FAB25C2FA}"/>
                </a:ext>
              </a:extLst>
            </p:cNvPr>
            <p:cNvSpPr/>
            <p:nvPr/>
          </p:nvSpPr>
          <p:spPr>
            <a:xfrm>
              <a:off x="4773168" y="2724912"/>
              <a:ext cx="384048" cy="384048"/>
            </a:xfrm>
            <a:prstGeom prst="ellipse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2C08F25F-493D-BE68-6BD2-EE9F18816EE9}"/>
                </a:ext>
              </a:extLst>
            </p:cNvPr>
            <p:cNvSpPr/>
            <p:nvPr/>
          </p:nvSpPr>
          <p:spPr>
            <a:xfrm>
              <a:off x="4773168" y="272491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06</a:t>
              </a:r>
              <a:endParaRPr lang="en-US" sz="1200" dirty="0"/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A31BC6C7-8E40-3237-3DED-46EAA821CB26}"/>
                </a:ext>
              </a:extLst>
            </p:cNvPr>
            <p:cNvSpPr/>
            <p:nvPr/>
          </p:nvSpPr>
          <p:spPr>
            <a:xfrm>
              <a:off x="5303520" y="2670048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Firebase Documentation</a:t>
              </a:r>
              <a:endParaRPr lang="en-US" sz="1000" dirty="0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24802045-407D-BDCE-E42A-0589A373C546}"/>
                </a:ext>
              </a:extLst>
            </p:cNvPr>
            <p:cNvSpPr/>
            <p:nvPr/>
          </p:nvSpPr>
          <p:spPr>
            <a:xfrm>
              <a:off x="5303520" y="2926080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https://firebase.google.com/docs</a:t>
              </a:r>
              <a:endParaRPr lang="en-US" sz="850" dirty="0"/>
            </a:p>
          </p:txBody>
        </p:sp>
        <p:sp>
          <p:nvSpPr>
            <p:cNvPr id="36" name="Shape 33">
              <a:extLst>
                <a:ext uri="{FF2B5EF4-FFF2-40B4-BE49-F238E27FC236}">
                  <a16:creationId xmlns:a16="http://schemas.microsoft.com/office/drawing/2014/main" id="{9356B435-6511-5C1D-6019-4D8DFAC027D5}"/>
                </a:ext>
              </a:extLst>
            </p:cNvPr>
            <p:cNvSpPr/>
            <p:nvPr/>
          </p:nvSpPr>
          <p:spPr>
            <a:xfrm>
              <a:off x="411480" y="3300984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Shape 34">
              <a:extLst>
                <a:ext uri="{FF2B5EF4-FFF2-40B4-BE49-F238E27FC236}">
                  <a16:creationId xmlns:a16="http://schemas.microsoft.com/office/drawing/2014/main" id="{ABA6E3AD-41AF-1323-21E5-F677C5F919DE}"/>
                </a:ext>
              </a:extLst>
            </p:cNvPr>
            <p:cNvSpPr/>
            <p:nvPr/>
          </p:nvSpPr>
          <p:spPr>
            <a:xfrm>
              <a:off x="521208" y="3392424"/>
              <a:ext cx="384048" cy="384048"/>
            </a:xfrm>
            <a:prstGeom prst="ellipse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35">
              <a:extLst>
                <a:ext uri="{FF2B5EF4-FFF2-40B4-BE49-F238E27FC236}">
                  <a16:creationId xmlns:a16="http://schemas.microsoft.com/office/drawing/2014/main" id="{4B99056D-B79F-70E4-F358-CF29F902A021}"/>
                </a:ext>
              </a:extLst>
            </p:cNvPr>
            <p:cNvSpPr/>
            <p:nvPr/>
          </p:nvSpPr>
          <p:spPr>
            <a:xfrm>
              <a:off x="521208" y="339242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07</a:t>
              </a:r>
              <a:endParaRPr lang="en-US" sz="1200" dirty="0"/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42B79FDA-11E5-8D20-FCD0-EB9A789DC4F7}"/>
                </a:ext>
              </a:extLst>
            </p:cNvPr>
            <p:cNvSpPr/>
            <p:nvPr/>
          </p:nvSpPr>
          <p:spPr>
            <a:xfrm>
              <a:off x="1051560" y="3337560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Tailwind CSS Documentation</a:t>
              </a:r>
              <a:endParaRPr lang="en-US" sz="1000" dirty="0"/>
            </a:p>
          </p:txBody>
        </p:sp>
        <p:sp>
          <p:nvSpPr>
            <p:cNvPr id="40" name="Text 37">
              <a:extLst>
                <a:ext uri="{FF2B5EF4-FFF2-40B4-BE49-F238E27FC236}">
                  <a16:creationId xmlns:a16="http://schemas.microsoft.com/office/drawing/2014/main" id="{4EC9DFC1-6454-9056-60CB-727433DDAEC4}"/>
                </a:ext>
              </a:extLst>
            </p:cNvPr>
            <p:cNvSpPr/>
            <p:nvPr/>
          </p:nvSpPr>
          <p:spPr>
            <a:xfrm>
              <a:off x="1051560" y="3593592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https://tailwindcss.com/docs</a:t>
              </a:r>
              <a:endParaRPr lang="en-US" sz="850" dirty="0"/>
            </a:p>
          </p:txBody>
        </p:sp>
        <p:sp>
          <p:nvSpPr>
            <p:cNvPr id="41" name="Shape 38">
              <a:extLst>
                <a:ext uri="{FF2B5EF4-FFF2-40B4-BE49-F238E27FC236}">
                  <a16:creationId xmlns:a16="http://schemas.microsoft.com/office/drawing/2014/main" id="{FEE9A8CD-7FA7-B968-6BFE-56F6D11C0718}"/>
                </a:ext>
              </a:extLst>
            </p:cNvPr>
            <p:cNvSpPr/>
            <p:nvPr/>
          </p:nvSpPr>
          <p:spPr>
            <a:xfrm>
              <a:off x="4663440" y="3300984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Shape 39">
              <a:extLst>
                <a:ext uri="{FF2B5EF4-FFF2-40B4-BE49-F238E27FC236}">
                  <a16:creationId xmlns:a16="http://schemas.microsoft.com/office/drawing/2014/main" id="{A1D309A8-2EAC-EDC6-29C9-C48821BD543B}"/>
                </a:ext>
              </a:extLst>
            </p:cNvPr>
            <p:cNvSpPr/>
            <p:nvPr/>
          </p:nvSpPr>
          <p:spPr>
            <a:xfrm>
              <a:off x="4773168" y="3392424"/>
              <a:ext cx="384048" cy="384048"/>
            </a:xfrm>
            <a:prstGeom prst="ellipse">
              <a:avLst/>
            </a:prstGeom>
            <a:solidFill>
              <a:srgbClr val="1A56DB"/>
            </a:solidFill>
            <a:ln w="12700">
              <a:solidFill>
                <a:srgbClr val="1A56D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 40">
              <a:extLst>
                <a:ext uri="{FF2B5EF4-FFF2-40B4-BE49-F238E27FC236}">
                  <a16:creationId xmlns:a16="http://schemas.microsoft.com/office/drawing/2014/main" id="{8DC7607E-592E-EC5F-B6D8-43E7F7F4D88A}"/>
                </a:ext>
              </a:extLst>
            </p:cNvPr>
            <p:cNvSpPr/>
            <p:nvPr/>
          </p:nvSpPr>
          <p:spPr>
            <a:xfrm>
              <a:off x="4773168" y="339242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08</a:t>
              </a:r>
              <a:endParaRPr lang="en-US" sz="1200" dirty="0"/>
            </a:p>
          </p:txBody>
        </p:sp>
        <p:sp>
          <p:nvSpPr>
            <p:cNvPr id="44" name="Text 41">
              <a:extLst>
                <a:ext uri="{FF2B5EF4-FFF2-40B4-BE49-F238E27FC236}">
                  <a16:creationId xmlns:a16="http://schemas.microsoft.com/office/drawing/2014/main" id="{00FAC8A1-BEEA-7224-A804-0EEC341D1D62}"/>
                </a:ext>
              </a:extLst>
            </p:cNvPr>
            <p:cNvSpPr/>
            <p:nvPr/>
          </p:nvSpPr>
          <p:spPr>
            <a:xfrm>
              <a:off x="5303520" y="3337560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Monaco Editor</a:t>
              </a:r>
              <a:endParaRPr lang="en-US" sz="1000" dirty="0"/>
            </a:p>
          </p:txBody>
        </p:sp>
        <p:sp>
          <p:nvSpPr>
            <p:cNvPr id="45" name="Text 42">
              <a:extLst>
                <a:ext uri="{FF2B5EF4-FFF2-40B4-BE49-F238E27FC236}">
                  <a16:creationId xmlns:a16="http://schemas.microsoft.com/office/drawing/2014/main" id="{E60BD8F3-A53E-0D06-49A3-54DAA4175FE0}"/>
                </a:ext>
              </a:extLst>
            </p:cNvPr>
            <p:cNvSpPr/>
            <p:nvPr/>
          </p:nvSpPr>
          <p:spPr>
            <a:xfrm>
              <a:off x="5303520" y="3593592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https://microsoft.github.io/monaco-editor</a:t>
              </a:r>
              <a:endParaRPr lang="en-US" sz="850" dirty="0"/>
            </a:p>
          </p:txBody>
        </p:sp>
        <p:sp>
          <p:nvSpPr>
            <p:cNvPr id="46" name="Shape 43">
              <a:extLst>
                <a:ext uri="{FF2B5EF4-FFF2-40B4-BE49-F238E27FC236}">
                  <a16:creationId xmlns:a16="http://schemas.microsoft.com/office/drawing/2014/main" id="{E4D70D14-09E0-72E1-8F3A-82C94612FB07}"/>
                </a:ext>
              </a:extLst>
            </p:cNvPr>
            <p:cNvSpPr/>
            <p:nvPr/>
          </p:nvSpPr>
          <p:spPr>
            <a:xfrm>
              <a:off x="411480" y="3968496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Shape 44">
              <a:extLst>
                <a:ext uri="{FF2B5EF4-FFF2-40B4-BE49-F238E27FC236}">
                  <a16:creationId xmlns:a16="http://schemas.microsoft.com/office/drawing/2014/main" id="{3B313ED6-68F3-22CF-4050-AE5117CCBB30}"/>
                </a:ext>
              </a:extLst>
            </p:cNvPr>
            <p:cNvSpPr/>
            <p:nvPr/>
          </p:nvSpPr>
          <p:spPr>
            <a:xfrm>
              <a:off x="521208" y="4059936"/>
              <a:ext cx="384048" cy="384048"/>
            </a:xfrm>
            <a:prstGeom prst="ellipse">
              <a:avLst/>
            </a:prstGeom>
            <a:solidFill>
              <a:srgbClr val="0E9F6E"/>
            </a:solidFill>
            <a:ln w="12700">
              <a:solidFill>
                <a:srgbClr val="0E9F6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 45">
              <a:extLst>
                <a:ext uri="{FF2B5EF4-FFF2-40B4-BE49-F238E27FC236}">
                  <a16:creationId xmlns:a16="http://schemas.microsoft.com/office/drawing/2014/main" id="{BCBBD175-8BB6-1376-A7A6-187C4AE27D99}"/>
                </a:ext>
              </a:extLst>
            </p:cNvPr>
            <p:cNvSpPr/>
            <p:nvPr/>
          </p:nvSpPr>
          <p:spPr>
            <a:xfrm>
              <a:off x="521208" y="40599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09</a:t>
              </a:r>
              <a:endParaRPr lang="en-US" sz="1200" dirty="0"/>
            </a:p>
          </p:txBody>
        </p:sp>
        <p:sp>
          <p:nvSpPr>
            <p:cNvPr id="49" name="Text 46">
              <a:extLst>
                <a:ext uri="{FF2B5EF4-FFF2-40B4-BE49-F238E27FC236}">
                  <a16:creationId xmlns:a16="http://schemas.microsoft.com/office/drawing/2014/main" id="{5EB31D79-5555-F727-0FEB-581F9BEADE1C}"/>
                </a:ext>
              </a:extLst>
            </p:cNvPr>
            <p:cNvSpPr/>
            <p:nvPr/>
          </p:nvSpPr>
          <p:spPr>
            <a:xfrm>
              <a:off x="1051560" y="4005072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JWT.io — JSON Web Tokens</a:t>
              </a:r>
              <a:endParaRPr lang="en-US" sz="1000" dirty="0"/>
            </a:p>
          </p:txBody>
        </p:sp>
        <p:sp>
          <p:nvSpPr>
            <p:cNvPr id="50" name="Text 47">
              <a:extLst>
                <a:ext uri="{FF2B5EF4-FFF2-40B4-BE49-F238E27FC236}">
                  <a16:creationId xmlns:a16="http://schemas.microsoft.com/office/drawing/2014/main" id="{03E38C16-BFFF-6A22-4FB0-97E5A84ADE5F}"/>
                </a:ext>
              </a:extLst>
            </p:cNvPr>
            <p:cNvSpPr/>
            <p:nvPr/>
          </p:nvSpPr>
          <p:spPr>
            <a:xfrm>
              <a:off x="1051560" y="4261104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https://jwt.io</a:t>
              </a:r>
              <a:endParaRPr lang="en-US" sz="850" dirty="0"/>
            </a:p>
          </p:txBody>
        </p:sp>
        <p:sp>
          <p:nvSpPr>
            <p:cNvPr id="51" name="Shape 48">
              <a:extLst>
                <a:ext uri="{FF2B5EF4-FFF2-40B4-BE49-F238E27FC236}">
                  <a16:creationId xmlns:a16="http://schemas.microsoft.com/office/drawing/2014/main" id="{0A0E9268-FAED-A637-B388-EE97A65390F8}"/>
                </a:ext>
              </a:extLst>
            </p:cNvPr>
            <p:cNvSpPr/>
            <p:nvPr/>
          </p:nvSpPr>
          <p:spPr>
            <a:xfrm>
              <a:off x="4663440" y="3968496"/>
              <a:ext cx="4114800" cy="56692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Shape 49">
              <a:extLst>
                <a:ext uri="{FF2B5EF4-FFF2-40B4-BE49-F238E27FC236}">
                  <a16:creationId xmlns:a16="http://schemas.microsoft.com/office/drawing/2014/main" id="{999D21D5-C64B-5211-77B2-563A4F5D6020}"/>
                </a:ext>
              </a:extLst>
            </p:cNvPr>
            <p:cNvSpPr/>
            <p:nvPr/>
          </p:nvSpPr>
          <p:spPr>
            <a:xfrm>
              <a:off x="4773168" y="4059936"/>
              <a:ext cx="384048" cy="384048"/>
            </a:xfrm>
            <a:prstGeom prst="ellipse">
              <a:avLst/>
            </a:prstGeom>
            <a:solidFill>
              <a:srgbClr val="FF5A1F"/>
            </a:solidFill>
            <a:ln w="12700">
              <a:solidFill>
                <a:srgbClr val="FF5A1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 50">
              <a:extLst>
                <a:ext uri="{FF2B5EF4-FFF2-40B4-BE49-F238E27FC236}">
                  <a16:creationId xmlns:a16="http://schemas.microsoft.com/office/drawing/2014/main" id="{5FB5B9B2-CB8E-3B36-F1F7-D30B95580A59}"/>
                </a:ext>
              </a:extLst>
            </p:cNvPr>
            <p:cNvSpPr/>
            <p:nvPr/>
          </p:nvSpPr>
          <p:spPr>
            <a:xfrm>
              <a:off x="4773168" y="40599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10</a:t>
              </a:r>
              <a:endParaRPr lang="en-US" sz="1200" dirty="0"/>
            </a:p>
          </p:txBody>
        </p:sp>
        <p:sp>
          <p:nvSpPr>
            <p:cNvPr id="54" name="Text 51">
              <a:extLst>
                <a:ext uri="{FF2B5EF4-FFF2-40B4-BE49-F238E27FC236}">
                  <a16:creationId xmlns:a16="http://schemas.microsoft.com/office/drawing/2014/main" id="{F90AA5EC-F9B3-03B2-1FD9-11095A59B46D}"/>
                </a:ext>
              </a:extLst>
            </p:cNvPr>
            <p:cNvSpPr/>
            <p:nvPr/>
          </p:nvSpPr>
          <p:spPr>
            <a:xfrm>
              <a:off x="5303520" y="4005072"/>
              <a:ext cx="3337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11928"/>
                  </a:solidFill>
                </a:rPr>
                <a:t>MDN Web Docs</a:t>
              </a:r>
              <a:endParaRPr lang="en-US" sz="1000" dirty="0"/>
            </a:p>
          </p:txBody>
        </p:sp>
        <p:sp>
          <p:nvSpPr>
            <p:cNvPr id="55" name="Text 52">
              <a:extLst>
                <a:ext uri="{FF2B5EF4-FFF2-40B4-BE49-F238E27FC236}">
                  <a16:creationId xmlns:a16="http://schemas.microsoft.com/office/drawing/2014/main" id="{D990AF69-8436-6091-31BB-5F54A199BCE0}"/>
                </a:ext>
              </a:extLst>
            </p:cNvPr>
            <p:cNvSpPr/>
            <p:nvPr/>
          </p:nvSpPr>
          <p:spPr>
            <a:xfrm>
              <a:off x="5303520" y="4261104"/>
              <a:ext cx="33375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1A56DB"/>
                  </a:solidFill>
                </a:rPr>
                <a:t>https://developer.mozilla.org</a:t>
              </a:r>
              <a:endParaRPr lang="en-US" sz="850" dirty="0"/>
            </a:p>
          </p:txBody>
        </p:sp>
        <p:sp>
          <p:nvSpPr>
            <p:cNvPr id="56" name="Shape 53">
              <a:extLst>
                <a:ext uri="{FF2B5EF4-FFF2-40B4-BE49-F238E27FC236}">
                  <a16:creationId xmlns:a16="http://schemas.microsoft.com/office/drawing/2014/main" id="{76FED947-3389-C360-CA74-53773DF27795}"/>
                </a:ext>
              </a:extLst>
            </p:cNvPr>
            <p:cNvSpPr/>
            <p:nvPr/>
          </p:nvSpPr>
          <p:spPr>
            <a:xfrm>
              <a:off x="411480" y="4617720"/>
              <a:ext cx="8321040" cy="36576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 54">
              <a:extLst>
                <a:ext uri="{FF2B5EF4-FFF2-40B4-BE49-F238E27FC236}">
                  <a16:creationId xmlns:a16="http://schemas.microsoft.com/office/drawing/2014/main" id="{705CFB70-A69A-1622-AD51-155B517681E0}"/>
                </a:ext>
              </a:extLst>
            </p:cNvPr>
            <p:cNvSpPr/>
            <p:nvPr/>
          </p:nvSpPr>
          <p:spPr>
            <a:xfrm>
              <a:off x="411480" y="4617720"/>
              <a:ext cx="8321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Thank You! · |   BCA 6th Semester 2025–26   |   MLSU Udaipur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961362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175</TotalTime>
  <Words>1395</Words>
  <Application>Microsoft Office PowerPoint</Application>
  <PresentationFormat>On-screen Show (16:9)</PresentationFormat>
  <Paragraphs>291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Calibri Light</vt:lpstr>
      <vt:lpstr>Segoe UI Symbol</vt:lpstr>
      <vt:lpstr>Times New Roman</vt:lpstr>
      <vt:lpstr>Retrospect</vt:lpstr>
      <vt:lpstr>INFORMATICS AND COMPUTATIONAL SCIENCE PROGRAMME, UNIVERSITY COLLEGE OF SCIENCE, MOHANLAL SUKHADIYA UNIVERSITY, UDAIPUR   BACHELOR OF COMPUTER APPLICATION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WebGen.ai — AI-Powered Website Builder</dc:title>
  <dc:subject>PptxGenJS Presentation</dc:subject>
  <dc:creator>PptxGenJS</dc:creator>
  <cp:lastModifiedBy>varun bhoi</cp:lastModifiedBy>
  <cp:revision>9</cp:revision>
  <dcterms:created xsi:type="dcterms:W3CDTF">2026-05-24T08:06:34Z</dcterms:created>
  <dcterms:modified xsi:type="dcterms:W3CDTF">2026-06-22T04:31:13Z</dcterms:modified>
</cp:coreProperties>
</file>